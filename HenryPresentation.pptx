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6" r:id="rId7"/>
    <p:sldId id="261" r:id="rId8"/>
    <p:sldId id="262" r:id="rId9"/>
    <p:sldId id="263" r:id="rId10"/>
    <p:sldId id="267" r:id="rId11"/>
    <p:sldId id="264" r:id="rId12"/>
    <p:sldId id="265"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3398B-85C4-405B-9FC2-F47E361FF7EF}"/>
              </a:ext>
            </a:extLst>
          </p:cNvPr>
          <p:cNvSpPr>
            <a:spLocks noGrp="1"/>
          </p:cNvSpPr>
          <p:nvPr>
            <p:ph type="ctrTitle"/>
          </p:nvPr>
        </p:nvSpPr>
        <p:spPr>
          <a:xfrm>
            <a:off x="1507067" y="1588168"/>
            <a:ext cx="7766936" cy="2462668"/>
          </a:xfrm>
        </p:spPr>
        <p:txBody>
          <a:bodyPr/>
          <a:lstStyle/>
          <a:p>
            <a:pPr algn="ctr">
              <a:lnSpc>
                <a:spcPct val="150000"/>
              </a:lnSpc>
            </a:pPr>
            <a:r>
              <a:rPr lang="en-US" sz="2800" b="1" dirty="0">
                <a:effectLst/>
                <a:latin typeface="Times New Roman" panose="02020603050405020304" pitchFamily="18" charset="0"/>
                <a:ea typeface="Times New Roman" panose="02020603050405020304" pitchFamily="18" charset="0"/>
              </a:rPr>
              <a:t>A DEEP LEARNING–BASED SALES FORECASTING AND TREND PREDICTION SYSTEM FOR RETAIL BUSINESS OPTIMIZATION</a:t>
            </a:r>
            <a:endParaRPr lang="en-US" sz="2800" dirty="0">
              <a:effectLst/>
              <a:latin typeface="Times New Roman" panose="02020603050405020304" pitchFamily="18" charset="0"/>
              <a:ea typeface="Times New Roman" panose="02020603050405020304" pitchFamily="18" charset="0"/>
            </a:endParaRPr>
          </a:p>
        </p:txBody>
      </p:sp>
      <p:sp>
        <p:nvSpPr>
          <p:cNvPr id="3" name="Subtitle 2">
            <a:extLst>
              <a:ext uri="{FF2B5EF4-FFF2-40B4-BE49-F238E27FC236}">
                <a16:creationId xmlns:a16="http://schemas.microsoft.com/office/drawing/2014/main" id="{F88BA9AD-0F74-43DF-826D-089DFE3088DC}"/>
              </a:ext>
            </a:extLst>
          </p:cNvPr>
          <p:cNvSpPr>
            <a:spLocks noGrp="1"/>
          </p:cNvSpPr>
          <p:nvPr>
            <p:ph type="subTitle" idx="1"/>
          </p:nvPr>
        </p:nvSpPr>
        <p:spPr>
          <a:xfrm>
            <a:off x="1507067" y="4050833"/>
            <a:ext cx="7766936" cy="1416316"/>
          </a:xfrm>
        </p:spPr>
        <p:txBody>
          <a:bodyPr>
            <a:normAutofit fontScale="77500" lnSpcReduction="20000"/>
          </a:bodyPr>
          <a:lstStyle/>
          <a:p>
            <a:pPr algn="ctr"/>
            <a:r>
              <a:rPr lang="en-US" sz="2400" dirty="0">
                <a:latin typeface="Times New Roman" panose="02020603050405020304" pitchFamily="18" charset="0"/>
                <a:cs typeface="Times New Roman" panose="02020603050405020304" pitchFamily="18" charset="0"/>
              </a:rPr>
              <a:t>DEPARTMENT OF INFORMATION TECHNOLOGY</a:t>
            </a:r>
          </a:p>
          <a:p>
            <a:pPr algn="ct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HENRY OCHIENG ONYANGO</a:t>
            </a:r>
          </a:p>
          <a:p>
            <a:pPr algn="ctr"/>
            <a:r>
              <a:rPr lang="en-US" sz="1800" dirty="0">
                <a:latin typeface="Times New Roman" panose="02020603050405020304" pitchFamily="18" charset="0"/>
                <a:cs typeface="Times New Roman" panose="02020603050405020304" pitchFamily="18" charset="0"/>
              </a:rPr>
              <a:t>SCT221-0262/2022</a:t>
            </a:r>
          </a:p>
          <a:p>
            <a:pPr algn="ctr"/>
            <a:r>
              <a:rPr lang="en-US" sz="1800" dirty="0">
                <a:latin typeface="Times New Roman" panose="02020603050405020304" pitchFamily="18" charset="0"/>
                <a:cs typeface="Times New Roman" panose="02020603050405020304" pitchFamily="18" charset="0"/>
              </a:rPr>
              <a:t>SUPERVISOR: DR. DENNIS KABURU</a:t>
            </a:r>
          </a:p>
          <a:p>
            <a:pPr algn="ctr"/>
            <a:endParaRPr lang="en-US" dirty="0"/>
          </a:p>
        </p:txBody>
      </p:sp>
    </p:spTree>
    <p:extLst>
      <p:ext uri="{BB962C8B-B14F-4D97-AF65-F5344CB8AC3E}">
        <p14:creationId xmlns:p14="http://schemas.microsoft.com/office/powerpoint/2010/main" val="2899948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AB5D8-94F4-4297-A8E6-10274FF05EC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Background of the study</a:t>
            </a:r>
          </a:p>
        </p:txBody>
      </p:sp>
      <p:sp>
        <p:nvSpPr>
          <p:cNvPr id="3" name="Content Placeholder 2">
            <a:extLst>
              <a:ext uri="{FF2B5EF4-FFF2-40B4-BE49-F238E27FC236}">
                <a16:creationId xmlns:a16="http://schemas.microsoft.com/office/drawing/2014/main" id="{0C66A3DC-2146-4CBA-A78E-785AF42021B7}"/>
              </a:ext>
            </a:extLst>
          </p:cNvPr>
          <p:cNvSpPr>
            <a:spLocks noGrp="1"/>
          </p:cNvSpPr>
          <p:nvPr>
            <p:ph idx="1"/>
          </p:nvPr>
        </p:nvSpPr>
        <p:spPr>
          <a:xfrm>
            <a:off x="677334" y="2156059"/>
            <a:ext cx="8596668" cy="3885303"/>
          </a:xfrm>
        </p:spPr>
        <p:txBody>
          <a:bodyPr/>
          <a:lstStyle/>
          <a:p>
            <a:pPr>
              <a:lnSpc>
                <a:spcPct val="150000"/>
              </a:lnSpc>
            </a:pPr>
            <a:r>
              <a:rPr lang="en-US" dirty="0">
                <a:latin typeface="Times New Roman" panose="02020603050405020304" pitchFamily="18" charset="0"/>
                <a:cs typeface="Times New Roman" panose="02020603050405020304" pitchFamily="18" charset="0"/>
              </a:rPr>
              <a:t>Sales forecasting plays a critical role in retail decision-making, influencing inventory control, supply chain management, and revenue planning. Traditionally, retailers have relied on statistical forecasting methods which often struggle with complex and non-linear sales patterns. With the increasing availability of sales data and advances in artificial intelligence, machine learning and deep learning techniques such as Long Short-Term Memory (LSTM) networks have gained prominence for time-series forecasting. This project is motivated by the growing need for more accurate, data-driven forecasting systems in modern retail environments.</a:t>
            </a:r>
          </a:p>
        </p:txBody>
      </p:sp>
    </p:spTree>
    <p:extLst>
      <p:ext uri="{BB962C8B-B14F-4D97-AF65-F5344CB8AC3E}">
        <p14:creationId xmlns:p14="http://schemas.microsoft.com/office/powerpoint/2010/main" val="1195007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9DFF8-F225-4F41-9D84-ABAA03C9F97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a:t>
            </a:r>
            <a:r>
              <a:rPr lang="en-US" dirty="0"/>
              <a:t> Statement</a:t>
            </a:r>
          </a:p>
        </p:txBody>
      </p:sp>
      <p:sp>
        <p:nvSpPr>
          <p:cNvPr id="3" name="Content Placeholder 2">
            <a:extLst>
              <a:ext uri="{FF2B5EF4-FFF2-40B4-BE49-F238E27FC236}">
                <a16:creationId xmlns:a16="http://schemas.microsoft.com/office/drawing/2014/main" id="{2C0F0CBC-80C1-4111-8434-6227B7DFA135}"/>
              </a:ext>
            </a:extLst>
          </p:cNvPr>
          <p:cNvSpPr>
            <a:spLocks noGrp="1"/>
          </p:cNvSpPr>
          <p:nvPr>
            <p:ph idx="1"/>
          </p:nvPr>
        </p:nvSpPr>
        <p:spPr/>
        <p:txBody>
          <a:bodyPr/>
          <a:lstStyle/>
          <a:p>
            <a:pPr>
              <a:lnSpc>
                <a:spcPct val="150000"/>
              </a:lnSpc>
            </a:pPr>
            <a:r>
              <a:rPr lang="en-US" dirty="0"/>
              <a:t>Many retail businesses continue to experience inaccurate sales forecasts due to reliance on classical forecasting methods that cannot effectively model seasonality, trends, and sudden changes in consumer behavior. Poor forecasting leads to overstocking, stock-outs, and financial losses. Although advanced AI models exist, their adoption is limited due to complexity and lack of interpretability. There is therefore a need for an intelligent sales forecasting system that improves prediction accuracy while remaining practical and understandable for retail decision-makers.</a:t>
            </a:r>
          </a:p>
        </p:txBody>
      </p:sp>
    </p:spTree>
    <p:extLst>
      <p:ext uri="{BB962C8B-B14F-4D97-AF65-F5344CB8AC3E}">
        <p14:creationId xmlns:p14="http://schemas.microsoft.com/office/powerpoint/2010/main" val="2467488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B0796-183E-487D-AEA3-F2109E76F6B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a:t>
            </a:r>
            <a:r>
              <a:rPr lang="en-US" dirty="0"/>
              <a:t> Proposal</a:t>
            </a:r>
          </a:p>
        </p:txBody>
      </p:sp>
      <p:sp>
        <p:nvSpPr>
          <p:cNvPr id="3" name="Content Placeholder 2">
            <a:extLst>
              <a:ext uri="{FF2B5EF4-FFF2-40B4-BE49-F238E27FC236}">
                <a16:creationId xmlns:a16="http://schemas.microsoft.com/office/drawing/2014/main" id="{D2F65394-F490-4B62-8479-ED6ACABD649D}"/>
              </a:ext>
            </a:extLst>
          </p:cNvPr>
          <p:cNvSpPr>
            <a:spLocks noGrp="1"/>
          </p:cNvSpPr>
          <p:nvPr>
            <p:ph idx="1"/>
          </p:nvPr>
        </p:nvSpPr>
        <p:spPr/>
        <p:txBody>
          <a:bodyPr/>
          <a:lstStyle/>
          <a:p>
            <a:pPr>
              <a:lnSpc>
                <a:spcPct val="150000"/>
              </a:lnSpc>
            </a:pPr>
            <a:r>
              <a:rPr lang="en-US" dirty="0"/>
              <a:t>This project proposes the development of an AI-based sales forecasting system that integrates Long Short-Term Memory (LSTM) networks with classical forecasting techniques. The system will analyze historical sales data, generate forecasts, and compare the performance of deep learning models against traditional statistical approaches. In addition, Large Language Models (LLMs) will be incorporated to support interpretation and explanation of forecast results, enhancing usability and decision support for retail managers.</a:t>
            </a:r>
          </a:p>
        </p:txBody>
      </p:sp>
    </p:spTree>
    <p:extLst>
      <p:ext uri="{BB962C8B-B14F-4D97-AF65-F5344CB8AC3E}">
        <p14:creationId xmlns:p14="http://schemas.microsoft.com/office/powerpoint/2010/main" val="3695056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B6813-9C62-4D09-BD68-5F4DF2131B4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5B0F5481-ED98-49AB-BC2F-A3E6D33851AB}"/>
              </a:ext>
            </a:extLst>
          </p:cNvPr>
          <p:cNvSpPr>
            <a:spLocks noGrp="1"/>
          </p:cNvSpPr>
          <p:nvPr>
            <p:ph idx="1"/>
          </p:nvPr>
        </p:nvSpPr>
        <p:spPr/>
        <p:txBody>
          <a:bodyPr>
            <a:normAutofit fontScale="85000" lnSpcReduction="10000"/>
          </a:bodyPr>
          <a:lstStyle/>
          <a:p>
            <a:pPr>
              <a:lnSpc>
                <a:spcPct val="150000"/>
              </a:lnSpc>
            </a:pPr>
            <a:r>
              <a:rPr lang="en-US" sz="1800" dirty="0">
                <a:effectLst/>
                <a:latin typeface="Times New Roman" panose="02020603050405020304" pitchFamily="18" charset="0"/>
                <a:ea typeface="Times New Roman" panose="02020603050405020304" pitchFamily="18" charset="0"/>
              </a:rPr>
              <a:t>General Objective</a:t>
            </a:r>
          </a:p>
          <a:p>
            <a:pPr>
              <a:lnSpc>
                <a:spcPct val="150000"/>
              </a:lnSpc>
            </a:pPr>
            <a:r>
              <a:rPr lang="en-US" sz="1800" dirty="0">
                <a:effectLst/>
                <a:latin typeface="Times New Roman" panose="02020603050405020304" pitchFamily="18" charset="0"/>
                <a:ea typeface="Times New Roman" panose="02020603050405020304" pitchFamily="18" charset="0"/>
              </a:rPr>
              <a:t>To develop a deep learning-based sales forecasting and trend prediction system for retail business optimization.</a:t>
            </a:r>
          </a:p>
          <a:p>
            <a:pPr>
              <a:lnSpc>
                <a:spcPct val="150000"/>
              </a:lnSpc>
            </a:pPr>
            <a:r>
              <a:rPr lang="en-US" sz="1800" dirty="0">
                <a:effectLst/>
                <a:latin typeface="Times New Roman" panose="02020603050405020304" pitchFamily="18" charset="0"/>
                <a:ea typeface="Times New Roman" panose="02020603050405020304" pitchFamily="18" charset="0"/>
              </a:rPr>
              <a:t>Specific Objectives</a:t>
            </a:r>
          </a:p>
          <a:p>
            <a:pPr marL="342900" lvl="0" indent="-342900">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analyze historical retail sales data and identify patterns relevant to sales forecasting.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implement classical statistical forecasting models as baseline methods for sales prediction.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develop an LSTM-based deep learning model for retail sales forecasting.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compare the forecasting accuracy of the LSTM model with classical forecasting techniques using standard evaluation metrics.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98229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178B2-1248-4D57-8925-B57857ADBC9B}"/>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4B77B944-A01F-4072-9DC6-94AA53D160A7}"/>
              </a:ext>
            </a:extLst>
          </p:cNvPr>
          <p:cNvSpPr>
            <a:spLocks noGrp="1"/>
          </p:cNvSpPr>
          <p:nvPr>
            <p:ph idx="1"/>
          </p:nvPr>
        </p:nvSpPr>
        <p:spPr/>
        <p:txBody>
          <a:bodyPr/>
          <a:lstStyle/>
          <a:p>
            <a:pPr marL="342900" lvl="0" indent="-342900">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patterns and trends can be identified from historical retail sales data that are relevant to sales forecasting?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How do classical statistical forecasting techniques perform when applied to retail sales data?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How effective is the LSTM-based model in forecasting retail sales compared to classical forecasting methods?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what extent does the LSTM model improve forecasting accuracy over classical techniques based on MAE, RMSE, and MAPE?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45733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6626C-DC0F-4C20-9117-9B92A5FA946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FBFD0068-E0A1-4AF1-B779-6334848B1D4A}"/>
              </a:ext>
            </a:extLst>
          </p:cNvPr>
          <p:cNvSpPr>
            <a:spLocks noGrp="1"/>
          </p:cNvSpPr>
          <p:nvPr>
            <p:ph idx="1"/>
          </p:nvPr>
        </p:nvSpPr>
        <p:spPr/>
        <p:txBody>
          <a:bodyPr/>
          <a:lstStyle/>
          <a:p>
            <a:pPr>
              <a:lnSpc>
                <a:spcPct val="150000"/>
              </a:lnSpc>
            </a:pPr>
            <a:r>
              <a:rPr lang="en-US" dirty="0"/>
              <a:t>T</a:t>
            </a:r>
            <a:r>
              <a:rPr lang="en-US" dirty="0">
                <a:latin typeface="Times New Roman" panose="02020603050405020304" pitchFamily="18" charset="0"/>
                <a:cs typeface="Times New Roman" panose="02020603050405020304" pitchFamily="18" charset="0"/>
              </a:rPr>
              <a:t>h</a:t>
            </a:r>
            <a:r>
              <a:rPr lang="en-US" dirty="0"/>
              <a:t>e project adopts the Design Science Research Methodology to guide the development of the forecasting system. Historical retail sales data will be collected, cleaned, and prepared for analysis. Classical forecasting models and LSTM networks will be implemented and trained on the data, followed by performance evaluation using error metrics such as MAE and RMSE. The methodology supports iterative design, implementation, and evaluation to ensure the system effectively addresses the identified problem.</a:t>
            </a:r>
          </a:p>
        </p:txBody>
      </p:sp>
    </p:spTree>
    <p:extLst>
      <p:ext uri="{BB962C8B-B14F-4D97-AF65-F5344CB8AC3E}">
        <p14:creationId xmlns:p14="http://schemas.microsoft.com/office/powerpoint/2010/main" val="2392401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02384-9E48-4EF2-B347-A443D933334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a:t>
            </a:r>
            <a:r>
              <a:rPr lang="en-US" dirty="0"/>
              <a:t> Review</a:t>
            </a:r>
          </a:p>
        </p:txBody>
      </p:sp>
      <p:sp>
        <p:nvSpPr>
          <p:cNvPr id="3" name="Content Placeholder 2">
            <a:extLst>
              <a:ext uri="{FF2B5EF4-FFF2-40B4-BE49-F238E27FC236}">
                <a16:creationId xmlns:a16="http://schemas.microsoft.com/office/drawing/2014/main" id="{F4F76B23-E180-449A-BD5D-B034324A0898}"/>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Existing</a:t>
            </a:r>
            <a:r>
              <a:rPr lang="en-US" dirty="0"/>
              <a:t> literature indicates that classical forecasting methods are easy to interpret and computationally efficient but perform poorly with complex and volatile sales data. Recent studies demonstrate that LSTM networks provide higher accuracy by capturing non-linear patterns, trends, and seasonality in time-series data. Emerging research also highlights the potential of Large Language Models in explaining predictive outputs and supporting decision-making, although their application in sales forecasting remains limited.</a:t>
            </a:r>
          </a:p>
        </p:txBody>
      </p:sp>
    </p:spTree>
    <p:extLst>
      <p:ext uri="{BB962C8B-B14F-4D97-AF65-F5344CB8AC3E}">
        <p14:creationId xmlns:p14="http://schemas.microsoft.com/office/powerpoint/2010/main" val="1874220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D1389-F341-4810-A207-43B336D9D2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Research</a:t>
            </a:r>
            <a:r>
              <a:rPr lang="en-US" dirty="0"/>
              <a:t> Gaps</a:t>
            </a:r>
          </a:p>
        </p:txBody>
      </p:sp>
      <p:sp>
        <p:nvSpPr>
          <p:cNvPr id="3" name="Content Placeholder 2">
            <a:extLst>
              <a:ext uri="{FF2B5EF4-FFF2-40B4-BE49-F238E27FC236}">
                <a16:creationId xmlns:a16="http://schemas.microsoft.com/office/drawing/2014/main" id="{CF110EDF-85A2-4E3E-A3E4-4BEBC2F7506A}"/>
              </a:ext>
            </a:extLst>
          </p:cNvPr>
          <p:cNvSpPr>
            <a:spLocks noGrp="1"/>
          </p:cNvSpPr>
          <p:nvPr>
            <p:ph idx="1"/>
          </p:nvPr>
        </p:nvSpPr>
        <p:spPr/>
        <p:txBody>
          <a:bodyPr/>
          <a:lstStyle/>
          <a:p>
            <a:pPr>
              <a:lnSpc>
                <a:spcPct val="150000"/>
              </a:lnSpc>
            </a:pPr>
            <a:r>
              <a:rPr lang="en-US" dirty="0"/>
              <a:t>Despite the success of LSTM models in time-series forecasting, limited research has </a:t>
            </a:r>
            <a:r>
              <a:rPr lang="en-US" dirty="0">
                <a:latin typeface="Times New Roman" panose="02020603050405020304" pitchFamily="18" charset="0"/>
                <a:cs typeface="Times New Roman" panose="02020603050405020304" pitchFamily="18" charset="0"/>
              </a:rPr>
              <a:t>focused</a:t>
            </a:r>
            <a:r>
              <a:rPr lang="en-US" dirty="0"/>
              <a:t> on comparing them directly with classical methods in practical retail settings. Additionally, few studies integrate interpretative tools such as Large Language Models to enhance usability and understanding of forecasting outputs. This project addresses these gaps by combining predictive accuracy with explainable AI for improved retail decision support.</a:t>
            </a:r>
          </a:p>
        </p:txBody>
      </p:sp>
    </p:spTree>
    <p:extLst>
      <p:ext uri="{BB962C8B-B14F-4D97-AF65-F5344CB8AC3E}">
        <p14:creationId xmlns:p14="http://schemas.microsoft.com/office/powerpoint/2010/main" val="2447140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1660D-1480-44C4-B9BA-06BABA2AA78B}"/>
              </a:ext>
            </a:extLst>
          </p:cNvPr>
          <p:cNvSpPr>
            <a:spLocks noGrp="1"/>
          </p:cNvSpPr>
          <p:nvPr>
            <p:ph type="title"/>
          </p:nvPr>
        </p:nvSpPr>
        <p:spPr/>
        <p:txBody>
          <a:bodyPr/>
          <a:lstStyle/>
          <a:p>
            <a:r>
              <a:rPr lang="en-US" dirty="0"/>
              <a:t>System Architecture</a:t>
            </a:r>
          </a:p>
        </p:txBody>
      </p:sp>
      <p:pic>
        <p:nvPicPr>
          <p:cNvPr id="5" name="Content Placeholder 4">
            <a:extLst>
              <a:ext uri="{FF2B5EF4-FFF2-40B4-BE49-F238E27FC236}">
                <a16:creationId xmlns:a16="http://schemas.microsoft.com/office/drawing/2014/main" id="{C4E1FCD0-730A-46FF-9864-8F9F866416B0}"/>
              </a:ext>
            </a:extLst>
          </p:cNvPr>
          <p:cNvPicPr>
            <a:picLocks noGrp="1" noChangeAspect="1"/>
          </p:cNvPicPr>
          <p:nvPr>
            <p:ph idx="1"/>
          </p:nvPr>
        </p:nvPicPr>
        <p:blipFill>
          <a:blip r:embed="rId2"/>
          <a:stretch>
            <a:fillRect/>
          </a:stretch>
        </p:blipFill>
        <p:spPr>
          <a:xfrm>
            <a:off x="1174282" y="871086"/>
            <a:ext cx="5678906" cy="5986914"/>
          </a:xfrm>
        </p:spPr>
      </p:pic>
    </p:spTree>
    <p:extLst>
      <p:ext uri="{BB962C8B-B14F-4D97-AF65-F5344CB8AC3E}">
        <p14:creationId xmlns:p14="http://schemas.microsoft.com/office/powerpoint/2010/main" val="2053665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28B1-A287-476A-9870-8579E03B498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Budget</a:t>
            </a:r>
          </a:p>
        </p:txBody>
      </p:sp>
      <p:graphicFrame>
        <p:nvGraphicFramePr>
          <p:cNvPr id="4" name="Content Placeholder 3">
            <a:extLst>
              <a:ext uri="{FF2B5EF4-FFF2-40B4-BE49-F238E27FC236}">
                <a16:creationId xmlns:a16="http://schemas.microsoft.com/office/drawing/2014/main" id="{0E90A281-5106-43BC-B0C3-1F78F51F094F}"/>
              </a:ext>
            </a:extLst>
          </p:cNvPr>
          <p:cNvGraphicFramePr>
            <a:graphicFrameLocks noGrp="1"/>
          </p:cNvGraphicFramePr>
          <p:nvPr>
            <p:ph idx="1"/>
            <p:extLst>
              <p:ext uri="{D42A27DB-BD31-4B8C-83A1-F6EECF244321}">
                <p14:modId xmlns:p14="http://schemas.microsoft.com/office/powerpoint/2010/main" val="3272759890"/>
              </p:ext>
            </p:extLst>
          </p:nvPr>
        </p:nvGraphicFramePr>
        <p:xfrm>
          <a:off x="866273" y="2079057"/>
          <a:ext cx="8181476" cy="3619101"/>
        </p:xfrm>
        <a:graphic>
          <a:graphicData uri="http://schemas.openxmlformats.org/drawingml/2006/table">
            <a:tbl>
              <a:tblPr firstRow="1" firstCol="1" bandRow="1">
                <a:tableStyleId>{5C22544A-7EE6-4342-B048-85BDC9FD1C3A}</a:tableStyleId>
              </a:tblPr>
              <a:tblGrid>
                <a:gridCol w="2045369">
                  <a:extLst>
                    <a:ext uri="{9D8B030D-6E8A-4147-A177-3AD203B41FA5}">
                      <a16:colId xmlns:a16="http://schemas.microsoft.com/office/drawing/2014/main" val="2440592061"/>
                    </a:ext>
                  </a:extLst>
                </a:gridCol>
                <a:gridCol w="2045369">
                  <a:extLst>
                    <a:ext uri="{9D8B030D-6E8A-4147-A177-3AD203B41FA5}">
                      <a16:colId xmlns:a16="http://schemas.microsoft.com/office/drawing/2014/main" val="1767893987"/>
                    </a:ext>
                  </a:extLst>
                </a:gridCol>
                <a:gridCol w="2045369">
                  <a:extLst>
                    <a:ext uri="{9D8B030D-6E8A-4147-A177-3AD203B41FA5}">
                      <a16:colId xmlns:a16="http://schemas.microsoft.com/office/drawing/2014/main" val="1780841189"/>
                    </a:ext>
                  </a:extLst>
                </a:gridCol>
                <a:gridCol w="2045369">
                  <a:extLst>
                    <a:ext uri="{9D8B030D-6E8A-4147-A177-3AD203B41FA5}">
                      <a16:colId xmlns:a16="http://schemas.microsoft.com/office/drawing/2014/main" val="2728281658"/>
                    </a:ext>
                  </a:extLst>
                </a:gridCol>
              </a:tblGrid>
              <a:tr h="445684">
                <a:tc>
                  <a:txBody>
                    <a:bodyPr/>
                    <a:lstStyle/>
                    <a:p>
                      <a:pPr algn="ctr">
                        <a:lnSpc>
                          <a:spcPct val="150000"/>
                        </a:lnSpc>
                      </a:pPr>
                      <a:r>
                        <a:rPr lang="en-US" sz="1200">
                          <a:effectLst/>
                        </a:rPr>
                        <a:t>Item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en-US" sz="1200">
                          <a:effectLst/>
                        </a:rPr>
                        <a:t>Quantity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en-US" sz="1200">
                          <a:effectLst/>
                        </a:rPr>
                        <a:t>Unit Cost (KSh)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pPr>
                      <a:r>
                        <a:rPr lang="en-US" sz="1200">
                          <a:effectLst/>
                        </a:rPr>
                        <a:t>Total Cost (KSh)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3619339"/>
                  </a:ext>
                </a:extLst>
              </a:tr>
              <a:tr h="445684">
                <a:tc>
                  <a:txBody>
                    <a:bodyPr/>
                    <a:lstStyle/>
                    <a:p>
                      <a:pPr>
                        <a:lnSpc>
                          <a:spcPct val="150000"/>
                        </a:lnSpc>
                      </a:pPr>
                      <a:r>
                        <a:rPr lang="en-US" sz="1200">
                          <a:effectLst/>
                        </a:rPr>
                        <a:t>Laptop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Owned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4884318"/>
                  </a:ext>
                </a:extLst>
              </a:tr>
              <a:tr h="944997">
                <a:tc>
                  <a:txBody>
                    <a:bodyPr/>
                    <a:lstStyle/>
                    <a:p>
                      <a:pPr>
                        <a:lnSpc>
                          <a:spcPct val="150000"/>
                        </a:lnSpc>
                      </a:pPr>
                      <a:r>
                        <a:rPr lang="en-US" sz="1200">
                          <a:effectLst/>
                        </a:rPr>
                        <a:t>Cloud Computing (Google Colab Pro – 6 months)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6,000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6,000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82567768"/>
                  </a:ext>
                </a:extLst>
              </a:tr>
              <a:tr h="445684">
                <a:tc>
                  <a:txBody>
                    <a:bodyPr/>
                    <a:lstStyle/>
                    <a:p>
                      <a:pPr>
                        <a:lnSpc>
                          <a:spcPct val="150000"/>
                        </a:lnSpc>
                      </a:pPr>
                      <a:r>
                        <a:rPr lang="en-US" sz="1200" dirty="0">
                          <a:effectLst/>
                        </a:rPr>
                        <a:t>Internet &amp; Data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6 months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6,000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03833053"/>
                  </a:ext>
                </a:extLst>
              </a:tr>
              <a:tr h="445684">
                <a:tc>
                  <a:txBody>
                    <a:bodyPr/>
                    <a:lstStyle/>
                    <a:p>
                      <a:pPr>
                        <a:lnSpc>
                          <a:spcPct val="150000"/>
                        </a:lnSpc>
                      </a:pPr>
                      <a:r>
                        <a:rPr lang="en-US" sz="1200">
                          <a:effectLst/>
                        </a:rPr>
                        <a:t>Printing &amp; Binding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01728361"/>
                  </a:ext>
                </a:extLst>
              </a:tr>
              <a:tr h="445684">
                <a:tc>
                  <a:txBody>
                    <a:bodyPr/>
                    <a:lstStyle/>
                    <a:p>
                      <a:pPr>
                        <a:lnSpc>
                          <a:spcPct val="150000"/>
                        </a:lnSpc>
                      </a:pPr>
                      <a:r>
                        <a:rPr lang="en-US" sz="1200">
                          <a:effectLst/>
                        </a:rPr>
                        <a:t>Miscellaneous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2089314"/>
                  </a:ext>
                </a:extLst>
              </a:tr>
              <a:tr h="445684">
                <a:tc>
                  <a:txBody>
                    <a:bodyPr/>
                    <a:lstStyle/>
                    <a:p>
                      <a:pPr>
                        <a:lnSpc>
                          <a:spcPct val="150000"/>
                        </a:lnSpc>
                      </a:pPr>
                      <a:r>
                        <a:rPr lang="en-US" sz="1200">
                          <a:effectLst/>
                        </a:rPr>
                        <a:t>Total Estimated Cost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sz="1100">
                        <a:effectLst/>
                        <a:latin typeface="Calibri" panose="020F0502020204030204" pitchFamily="34" charset="0"/>
                        <a:cs typeface="Times New Roman" panose="02020603050405020304" pitchFamily="18" charset="0"/>
                      </a:endParaRPr>
                    </a:p>
                  </a:txBody>
                  <a:tcPr marL="68580" marR="68580" marT="0" marB="0"/>
                </a:tc>
                <a:tc>
                  <a:txBody>
                    <a:bodyPr/>
                    <a:lstStyle/>
                    <a:p>
                      <a:endParaRPr lang="en-US" sz="110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pPr>
                      <a:r>
                        <a:rPr lang="en-US" sz="1200" dirty="0">
                          <a:effectLst/>
                        </a:rPr>
                        <a:t>14,000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35989373"/>
                  </a:ext>
                </a:extLst>
              </a:tr>
            </a:tbl>
          </a:graphicData>
        </a:graphic>
      </p:graphicFrame>
    </p:spTree>
    <p:extLst>
      <p:ext uri="{BB962C8B-B14F-4D97-AF65-F5344CB8AC3E}">
        <p14:creationId xmlns:p14="http://schemas.microsoft.com/office/powerpoint/2010/main" val="3678196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159F7-7DBD-4E67-8FEB-FE1A381AC57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Schedule</a:t>
            </a:r>
          </a:p>
        </p:txBody>
      </p:sp>
      <p:graphicFrame>
        <p:nvGraphicFramePr>
          <p:cNvPr id="4" name="Content Placeholder 3">
            <a:extLst>
              <a:ext uri="{FF2B5EF4-FFF2-40B4-BE49-F238E27FC236}">
                <a16:creationId xmlns:a16="http://schemas.microsoft.com/office/drawing/2014/main" id="{381242E4-F9B8-4D71-8BEF-A1DB1D274DE7}"/>
              </a:ext>
            </a:extLst>
          </p:cNvPr>
          <p:cNvGraphicFramePr>
            <a:graphicFrameLocks noGrp="1"/>
          </p:cNvGraphicFramePr>
          <p:nvPr>
            <p:ph idx="1"/>
            <p:extLst>
              <p:ext uri="{D42A27DB-BD31-4B8C-83A1-F6EECF244321}">
                <p14:modId xmlns:p14="http://schemas.microsoft.com/office/powerpoint/2010/main" val="3000164916"/>
              </p:ext>
            </p:extLst>
          </p:nvPr>
        </p:nvGraphicFramePr>
        <p:xfrm>
          <a:off x="1068404" y="1713297"/>
          <a:ext cx="7825342" cy="4328726"/>
        </p:xfrm>
        <a:graphic>
          <a:graphicData uri="http://schemas.openxmlformats.org/drawingml/2006/table">
            <a:tbl>
              <a:tblPr firstRow="1" firstCol="1" bandRow="1">
                <a:tableStyleId>{5C22544A-7EE6-4342-B048-85BDC9FD1C3A}</a:tableStyleId>
              </a:tblPr>
              <a:tblGrid>
                <a:gridCol w="1117906">
                  <a:extLst>
                    <a:ext uri="{9D8B030D-6E8A-4147-A177-3AD203B41FA5}">
                      <a16:colId xmlns:a16="http://schemas.microsoft.com/office/drawing/2014/main" val="1059541347"/>
                    </a:ext>
                  </a:extLst>
                </a:gridCol>
                <a:gridCol w="1117906">
                  <a:extLst>
                    <a:ext uri="{9D8B030D-6E8A-4147-A177-3AD203B41FA5}">
                      <a16:colId xmlns:a16="http://schemas.microsoft.com/office/drawing/2014/main" val="2944171617"/>
                    </a:ext>
                  </a:extLst>
                </a:gridCol>
                <a:gridCol w="1117906">
                  <a:extLst>
                    <a:ext uri="{9D8B030D-6E8A-4147-A177-3AD203B41FA5}">
                      <a16:colId xmlns:a16="http://schemas.microsoft.com/office/drawing/2014/main" val="1385414464"/>
                    </a:ext>
                  </a:extLst>
                </a:gridCol>
                <a:gridCol w="1117906">
                  <a:extLst>
                    <a:ext uri="{9D8B030D-6E8A-4147-A177-3AD203B41FA5}">
                      <a16:colId xmlns:a16="http://schemas.microsoft.com/office/drawing/2014/main" val="2960198317"/>
                    </a:ext>
                  </a:extLst>
                </a:gridCol>
                <a:gridCol w="1117906">
                  <a:extLst>
                    <a:ext uri="{9D8B030D-6E8A-4147-A177-3AD203B41FA5}">
                      <a16:colId xmlns:a16="http://schemas.microsoft.com/office/drawing/2014/main" val="564687592"/>
                    </a:ext>
                  </a:extLst>
                </a:gridCol>
                <a:gridCol w="1117906">
                  <a:extLst>
                    <a:ext uri="{9D8B030D-6E8A-4147-A177-3AD203B41FA5}">
                      <a16:colId xmlns:a16="http://schemas.microsoft.com/office/drawing/2014/main" val="4178821288"/>
                    </a:ext>
                  </a:extLst>
                </a:gridCol>
                <a:gridCol w="1117906">
                  <a:extLst>
                    <a:ext uri="{9D8B030D-6E8A-4147-A177-3AD203B41FA5}">
                      <a16:colId xmlns:a16="http://schemas.microsoft.com/office/drawing/2014/main" val="2616990271"/>
                    </a:ext>
                  </a:extLst>
                </a:gridCol>
              </a:tblGrid>
              <a:tr h="170198">
                <a:tc>
                  <a:txBody>
                    <a:bodyPr/>
                    <a:lstStyle/>
                    <a:p>
                      <a:pPr algn="ctr">
                        <a:lnSpc>
                          <a:spcPct val="150000"/>
                        </a:lnSpc>
                      </a:pPr>
                      <a:r>
                        <a:rPr lang="en-US" sz="700">
                          <a:effectLst/>
                        </a:rPr>
                        <a:t>Activity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Month 1</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Month 2</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Month 3</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Month 4</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Month 5</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Month 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4015340058"/>
                  </a:ext>
                </a:extLst>
              </a:tr>
              <a:tr h="360727">
                <a:tc>
                  <a:txBody>
                    <a:bodyPr/>
                    <a:lstStyle/>
                    <a:p>
                      <a:pPr>
                        <a:lnSpc>
                          <a:spcPct val="150000"/>
                        </a:lnSpc>
                      </a:pPr>
                      <a:r>
                        <a:rPr lang="en-US" sz="700">
                          <a:effectLst/>
                        </a:rPr>
                        <a:t>Proposal Writing &amp; Approval</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29716856"/>
                  </a:ext>
                </a:extLst>
              </a:tr>
              <a:tr h="360727">
                <a:tc>
                  <a:txBody>
                    <a:bodyPr/>
                    <a:lstStyle/>
                    <a:p>
                      <a:pPr>
                        <a:lnSpc>
                          <a:spcPct val="150000"/>
                        </a:lnSpc>
                      </a:pPr>
                      <a:r>
                        <a:rPr lang="en-US" sz="700">
                          <a:effectLst/>
                        </a:rPr>
                        <a:t>Literature Review</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3073491551"/>
                  </a:ext>
                </a:extLst>
              </a:tr>
              <a:tr h="360727">
                <a:tc>
                  <a:txBody>
                    <a:bodyPr/>
                    <a:lstStyle/>
                    <a:p>
                      <a:pPr>
                        <a:lnSpc>
                          <a:spcPct val="150000"/>
                        </a:lnSpc>
                      </a:pPr>
                      <a:r>
                        <a:rPr lang="en-US" sz="700">
                          <a:effectLst/>
                        </a:rPr>
                        <a:t>Requirements Analysis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1097010550"/>
                  </a:ext>
                </a:extLst>
              </a:tr>
              <a:tr h="170198">
                <a:tc>
                  <a:txBody>
                    <a:bodyPr/>
                    <a:lstStyle/>
                    <a:p>
                      <a:pPr>
                        <a:lnSpc>
                          <a:spcPct val="150000"/>
                        </a:lnSpc>
                      </a:pPr>
                      <a:r>
                        <a:rPr lang="en-US" sz="700">
                          <a:effectLst/>
                        </a:rPr>
                        <a:t>Data Collection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1264326784"/>
                  </a:ext>
                </a:extLst>
              </a:tr>
              <a:tr h="360727">
                <a:tc>
                  <a:txBody>
                    <a:bodyPr/>
                    <a:lstStyle/>
                    <a:p>
                      <a:pPr>
                        <a:lnSpc>
                          <a:spcPct val="150000"/>
                        </a:lnSpc>
                      </a:pPr>
                      <a:r>
                        <a:rPr lang="en-US" sz="700">
                          <a:effectLst/>
                        </a:rPr>
                        <a:t>Data Preprocessing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2085388338"/>
                  </a:ext>
                </a:extLst>
              </a:tr>
              <a:tr h="551257">
                <a:tc>
                  <a:txBody>
                    <a:bodyPr/>
                    <a:lstStyle/>
                    <a:p>
                      <a:pPr>
                        <a:lnSpc>
                          <a:spcPct val="150000"/>
                        </a:lnSpc>
                      </a:pPr>
                      <a:r>
                        <a:rPr lang="en-US" sz="700">
                          <a:effectLst/>
                        </a:rPr>
                        <a:t>Model Design (LSTM Architecture)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2597056400"/>
                  </a:ext>
                </a:extLst>
              </a:tr>
              <a:tr h="360727">
                <a:tc>
                  <a:txBody>
                    <a:bodyPr/>
                    <a:lstStyle/>
                    <a:p>
                      <a:pPr>
                        <a:lnSpc>
                          <a:spcPct val="150000"/>
                        </a:lnSpc>
                      </a:pPr>
                      <a:r>
                        <a:rPr lang="en-US" sz="700">
                          <a:effectLst/>
                        </a:rPr>
                        <a:t>Model Training &amp; Validation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1398912931"/>
                  </a:ext>
                </a:extLst>
              </a:tr>
              <a:tr h="551257">
                <a:tc>
                  <a:txBody>
                    <a:bodyPr/>
                    <a:lstStyle/>
                    <a:p>
                      <a:pPr>
                        <a:lnSpc>
                          <a:spcPct val="150000"/>
                        </a:lnSpc>
                      </a:pPr>
                      <a:r>
                        <a:rPr lang="en-US" sz="700">
                          <a:effectLst/>
                        </a:rPr>
                        <a:t>System Integration &amp; Testing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1971683430"/>
                  </a:ext>
                </a:extLst>
              </a:tr>
              <a:tr h="360727">
                <a:tc>
                  <a:txBody>
                    <a:bodyPr/>
                    <a:lstStyle/>
                    <a:p>
                      <a:pPr>
                        <a:lnSpc>
                          <a:spcPct val="150000"/>
                        </a:lnSpc>
                      </a:pPr>
                      <a:r>
                        <a:rPr lang="en-US" sz="700">
                          <a:effectLst/>
                        </a:rPr>
                        <a:t>Results Analysis &amp; Evaluation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622638484"/>
                  </a:ext>
                </a:extLst>
              </a:tr>
              <a:tr h="360727">
                <a:tc>
                  <a:txBody>
                    <a:bodyPr/>
                    <a:lstStyle/>
                    <a:p>
                      <a:pPr>
                        <a:lnSpc>
                          <a:spcPct val="150000"/>
                        </a:lnSpc>
                      </a:pPr>
                      <a:r>
                        <a:rPr lang="en-US" sz="700">
                          <a:effectLst/>
                        </a:rPr>
                        <a:t>Final Report Writing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a:effectLst/>
                        </a:rPr>
                        <a: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971272184"/>
                  </a:ext>
                </a:extLst>
              </a:tr>
              <a:tr h="360727">
                <a:tc>
                  <a:txBody>
                    <a:bodyPr/>
                    <a:lstStyle/>
                    <a:p>
                      <a:pPr>
                        <a:lnSpc>
                          <a:spcPct val="150000"/>
                        </a:lnSpc>
                      </a:pPr>
                      <a:r>
                        <a:rPr lang="en-US" sz="700">
                          <a:effectLst/>
                        </a:rPr>
                        <a:t>Submission &amp; Presentation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endParaRPr lang="en-US" sz="700">
                        <a:effectLst/>
                        <a:latin typeface="Calibri" panose="020F0502020204030204" pitchFamily="34" charset="0"/>
                        <a:cs typeface="Times New Roman" panose="02020603050405020304" pitchFamily="18" charset="0"/>
                      </a:endParaRPr>
                    </a:p>
                  </a:txBody>
                  <a:tcPr marL="42710" marR="42710" marT="0" marB="0"/>
                </a:tc>
                <a:tc>
                  <a:txBody>
                    <a:bodyPr/>
                    <a:lstStyle/>
                    <a:p>
                      <a:pPr algn="ctr">
                        <a:lnSpc>
                          <a:spcPct val="150000"/>
                        </a:lnSpc>
                      </a:pPr>
                      <a:r>
                        <a:rPr lang="en-US" sz="700" dirty="0">
                          <a:effectLst/>
                        </a:rPr>
                        <a:t>███</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2710" marR="42710" marT="0" marB="0"/>
                </a:tc>
                <a:extLst>
                  <a:ext uri="{0D108BD9-81ED-4DB2-BD59-A6C34878D82A}">
                    <a16:rowId xmlns:a16="http://schemas.microsoft.com/office/drawing/2014/main" val="3444252423"/>
                  </a:ext>
                </a:extLst>
              </a:tr>
            </a:tbl>
          </a:graphicData>
        </a:graphic>
      </p:graphicFrame>
    </p:spTree>
    <p:extLst>
      <p:ext uri="{BB962C8B-B14F-4D97-AF65-F5344CB8AC3E}">
        <p14:creationId xmlns:p14="http://schemas.microsoft.com/office/powerpoint/2010/main" val="2213999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1F84E1-94FA-480B-954B-37EC8F2E8366}"/>
              </a:ext>
            </a:extLst>
          </p:cNvPr>
          <p:cNvSpPr>
            <a:spLocks noGrp="1"/>
          </p:cNvSpPr>
          <p:nvPr>
            <p:ph idx="1"/>
          </p:nvPr>
        </p:nvSpPr>
        <p:spPr/>
        <p:txBody>
          <a:bodyPr>
            <a:normAutofit/>
          </a:bodyPr>
          <a:lstStyle/>
          <a:p>
            <a:pPr algn="ctr"/>
            <a:r>
              <a:rPr lang="en-US" sz="4800" dirty="0"/>
              <a:t>THANK YOU</a:t>
            </a:r>
          </a:p>
        </p:txBody>
      </p:sp>
    </p:spTree>
    <p:extLst>
      <p:ext uri="{BB962C8B-B14F-4D97-AF65-F5344CB8AC3E}">
        <p14:creationId xmlns:p14="http://schemas.microsoft.com/office/powerpoint/2010/main" val="21122367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149</TotalTime>
  <Words>794</Words>
  <Application>Microsoft Office PowerPoint</Application>
  <PresentationFormat>Widescreen</PresentationFormat>
  <Paragraphs>94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Times New Roman</vt:lpstr>
      <vt:lpstr>Trebuchet MS</vt:lpstr>
      <vt:lpstr>Wingdings 3</vt:lpstr>
      <vt:lpstr>Facet</vt:lpstr>
      <vt:lpstr>A DEEP LEARNING–BASED SALES FORECASTING AND TREND PREDICTION SYSTEM FOR RETAIL BUSINESS OPTIMIZATION</vt:lpstr>
      <vt:lpstr>Background of the study</vt:lpstr>
      <vt:lpstr>Problem Statement</vt:lpstr>
      <vt:lpstr>Project Proposal</vt:lpstr>
      <vt:lpstr>Objectives</vt:lpstr>
      <vt:lpstr>Research Questions</vt:lpstr>
      <vt:lpstr>Methodology</vt:lpstr>
      <vt:lpstr>Literature Review</vt:lpstr>
      <vt:lpstr>Research Gaps</vt:lpstr>
      <vt:lpstr>System Architecture</vt:lpstr>
      <vt:lpstr>Budget</vt:lpstr>
      <vt:lpstr>Project Schedule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Lucky Awino</dc:creator>
  <cp:lastModifiedBy>Lucky Awino</cp:lastModifiedBy>
  <cp:revision>12</cp:revision>
  <dcterms:created xsi:type="dcterms:W3CDTF">2026-01-23T23:11:05Z</dcterms:created>
  <dcterms:modified xsi:type="dcterms:W3CDTF">2026-01-24T01:40:55Z</dcterms:modified>
</cp:coreProperties>
</file>