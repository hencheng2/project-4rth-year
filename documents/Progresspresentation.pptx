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9" r:id="rId6"/>
    <p:sldId id="261" r:id="rId7"/>
    <p:sldId id="271" r:id="rId8"/>
    <p:sldId id="262" r:id="rId9"/>
    <p:sldId id="263" r:id="rId10"/>
    <p:sldId id="264" r:id="rId11"/>
    <p:sldId id="268"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32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828FE-6BE3-40B7-A81B-993675CB730B}"/>
              </a:ext>
            </a:extLst>
          </p:cNvPr>
          <p:cNvSpPr>
            <a:spLocks noGrp="1"/>
          </p:cNvSpPr>
          <p:nvPr>
            <p:ph type="ctrTitle"/>
          </p:nvPr>
        </p:nvSpPr>
        <p:spPr>
          <a:xfrm>
            <a:off x="1507067" y="557939"/>
            <a:ext cx="7766936" cy="3205539"/>
          </a:xfrm>
        </p:spPr>
        <p:txBody>
          <a:bodyPr/>
          <a:lstStyle/>
          <a:p>
            <a:pPr algn="ctr"/>
            <a:r>
              <a:rPr lang="en-US" sz="4400" dirty="0">
                <a:latin typeface="Times New Roman" panose="02020603050405020304" pitchFamily="18" charset="0"/>
                <a:cs typeface="Times New Roman" panose="02020603050405020304" pitchFamily="18" charset="0"/>
              </a:rPr>
              <a:t>Deep Learning–Based Sales Forecasting and Trend Prediction System for Retail Business Optimization</a:t>
            </a:r>
            <a:br>
              <a:rPr lang="en-US" sz="4400" dirty="0">
                <a:latin typeface="Times New Roman" panose="02020603050405020304" pitchFamily="18" charset="0"/>
                <a:cs typeface="Times New Roman" panose="02020603050405020304" pitchFamily="18" charset="0"/>
              </a:rPr>
            </a:br>
            <a:endParaRPr lang="en-US" sz="4400" dirty="0"/>
          </a:p>
        </p:txBody>
      </p:sp>
      <p:sp>
        <p:nvSpPr>
          <p:cNvPr id="3" name="Subtitle 2">
            <a:extLst>
              <a:ext uri="{FF2B5EF4-FFF2-40B4-BE49-F238E27FC236}">
                <a16:creationId xmlns:a16="http://schemas.microsoft.com/office/drawing/2014/main" id="{919A1322-080C-4521-ADE3-0FC29C55A43F}"/>
              </a:ext>
            </a:extLst>
          </p:cNvPr>
          <p:cNvSpPr>
            <a:spLocks noGrp="1"/>
          </p:cNvSpPr>
          <p:nvPr>
            <p:ph type="subTitle" idx="1"/>
          </p:nvPr>
        </p:nvSpPr>
        <p:spPr>
          <a:xfrm>
            <a:off x="1507067" y="4050833"/>
            <a:ext cx="7766936" cy="1300813"/>
          </a:xfrm>
        </p:spPr>
        <p:txBody>
          <a:bodyPr>
            <a:normAutofit fontScale="25000" lnSpcReduction="20000"/>
          </a:bodyPr>
          <a:lstStyle/>
          <a:p>
            <a:pPr algn="ctr"/>
            <a:r>
              <a:rPr lang="en-US" sz="4300" dirty="0">
                <a:latin typeface="Times New Roman" panose="02020603050405020304" pitchFamily="18" charset="0"/>
                <a:cs typeface="Times New Roman" panose="02020603050405020304" pitchFamily="18" charset="0"/>
              </a:rPr>
              <a:t>SYSTEM ANALYSIS AND DESIGN</a:t>
            </a:r>
          </a:p>
          <a:p>
            <a:pPr algn="ctr"/>
            <a:r>
              <a:rPr lang="en-US" sz="3200" dirty="0">
                <a:latin typeface="Times New Roman" panose="02020603050405020304" pitchFamily="18" charset="0"/>
                <a:cs typeface="Times New Roman" panose="02020603050405020304" pitchFamily="18" charset="0"/>
              </a:rPr>
              <a:t>DEPARTMENT OF INFORMATION TECHNOLOGY</a:t>
            </a:r>
          </a:p>
          <a:p>
            <a:pPr algn="ct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HENRY OCHIENG ONYANGO</a:t>
            </a:r>
          </a:p>
          <a:p>
            <a:pPr algn="ctr"/>
            <a:r>
              <a:rPr lang="en-US" sz="3200" dirty="0">
                <a:latin typeface="Times New Roman" panose="02020603050405020304" pitchFamily="18" charset="0"/>
                <a:cs typeface="Times New Roman" panose="02020603050405020304" pitchFamily="18" charset="0"/>
              </a:rPr>
              <a:t>SCT221-0733/2022</a:t>
            </a:r>
          </a:p>
          <a:p>
            <a:pPr algn="ctr"/>
            <a:r>
              <a:rPr lang="en-US" sz="3200" dirty="0">
                <a:latin typeface="Times New Roman" panose="02020603050405020304" pitchFamily="18" charset="0"/>
                <a:cs typeface="Times New Roman" panose="02020603050405020304" pitchFamily="18" charset="0"/>
              </a:rPr>
              <a:t>SUPERVISOR: DR. DENNIS KABURU</a:t>
            </a:r>
          </a:p>
          <a:p>
            <a:pPr algn="ctr"/>
            <a:endParaRPr lang="en-US" sz="18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62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4EF7-EB5A-42D7-B3E8-E7E093503B51}"/>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17C5CD0D-0EB2-4B54-8FF5-1E631F6DFF87}"/>
              </a:ext>
            </a:extLst>
          </p:cNvPr>
          <p:cNvSpPr>
            <a:spLocks noGrp="1"/>
          </p:cNvSpPr>
          <p:nvPr>
            <p:ph idx="1"/>
          </p:nvPr>
        </p:nvSpPr>
        <p:spPr>
          <a:xfrm>
            <a:off x="677334" y="2160589"/>
            <a:ext cx="8596668" cy="3653070"/>
          </a:xfrm>
        </p:spPr>
        <p:txBody>
          <a:bodyPr>
            <a:noAutofit/>
          </a:bodyPr>
          <a:lstStyle/>
          <a:p>
            <a:pPr>
              <a:lnSpc>
                <a:spcPct val="150000"/>
              </a:lnSpc>
            </a:pPr>
            <a:r>
              <a:rPr lang="en-US" sz="1200" dirty="0">
                <a:effectLst/>
                <a:ea typeface="Times New Roman" panose="02020603050405020304" pitchFamily="18" charset="0"/>
              </a:rPr>
              <a:t>General Objective is to develop a deep learning–based sales forecasting and trend prediction system that enhances retail business optimization through accurate demand prediction and intelligent data-driven decision support.</a:t>
            </a:r>
          </a:p>
          <a:p>
            <a:pPr>
              <a:lnSpc>
                <a:spcPct val="150000"/>
              </a:lnSpc>
            </a:pPr>
            <a:r>
              <a:rPr lang="en-US" sz="1200" dirty="0">
                <a:effectLst/>
                <a:ea typeface="Times New Roman" panose="02020603050405020304" pitchFamily="18" charset="0"/>
              </a:rPr>
              <a:t>Specific Objectives</a:t>
            </a:r>
          </a:p>
          <a:p>
            <a:pPr marL="342900" lvl="0" indent="-342900">
              <a:lnSpc>
                <a:spcPct val="150000"/>
              </a:lnSpc>
              <a:buFont typeface="+mj-lt"/>
              <a:buAutoNum type="arabicPeriod"/>
            </a:pPr>
            <a:r>
              <a:rPr lang="en-US" sz="1200" dirty="0">
                <a:effectLst/>
                <a:ea typeface="Times New Roman" panose="02020603050405020304" pitchFamily="18" charset="0"/>
              </a:rPr>
              <a:t>To analyze historical retail sales data and identify patterns relevant to sales forecasting.</a:t>
            </a:r>
          </a:p>
          <a:p>
            <a:pPr marL="342900" lvl="0" indent="-342900">
              <a:lnSpc>
                <a:spcPct val="150000"/>
              </a:lnSpc>
              <a:buFont typeface="+mj-lt"/>
              <a:buAutoNum type="arabicPeriod"/>
            </a:pPr>
            <a:r>
              <a:rPr lang="en-US" sz="1200" dirty="0">
                <a:effectLst/>
                <a:ea typeface="Times New Roman" panose="02020603050405020304" pitchFamily="18" charset="0"/>
              </a:rPr>
              <a:t>To implement classical statistical forecasting models including ARIMA and Exponential Smoothing as baseline methods for sales prediction.</a:t>
            </a:r>
          </a:p>
          <a:p>
            <a:pPr marL="342900" lvl="0" indent="-342900">
              <a:lnSpc>
                <a:spcPct val="150000"/>
              </a:lnSpc>
              <a:buFont typeface="+mj-lt"/>
              <a:buAutoNum type="arabicPeriod"/>
            </a:pPr>
            <a:r>
              <a:rPr lang="en-US" sz="1200" dirty="0">
                <a:effectLst/>
                <a:ea typeface="Times New Roman" panose="02020603050405020304" pitchFamily="18" charset="0"/>
              </a:rPr>
              <a:t>To develop an LSTM-based deep learning model for retail sales forecasting.</a:t>
            </a:r>
          </a:p>
          <a:p>
            <a:pPr marL="342900" lvl="0" indent="-342900">
              <a:lnSpc>
                <a:spcPct val="150000"/>
              </a:lnSpc>
              <a:buFont typeface="+mj-lt"/>
              <a:buAutoNum type="arabicPeriod"/>
            </a:pPr>
            <a:r>
              <a:rPr lang="en-US" sz="1200" dirty="0">
                <a:effectLst/>
                <a:ea typeface="Times New Roman" panose="02020603050405020304" pitchFamily="18" charset="0"/>
              </a:rPr>
              <a:t>To compare the forecasting accuracy of the LSTM model with classical forecasting techniques using standard evaluation metrics (MAE, RMSE, MAPE).</a:t>
            </a:r>
            <a:br>
              <a:rPr lang="en-US" sz="1200" dirty="0">
                <a:cs typeface="Times New Roman" panose="02020603050405020304" pitchFamily="18" charset="0"/>
              </a:rPr>
            </a:br>
            <a:endParaRPr lang="en-US" sz="1200" dirty="0">
              <a:cs typeface="Times New Roman" panose="02020603050405020304" pitchFamily="18" charset="0"/>
            </a:endParaRPr>
          </a:p>
          <a:p>
            <a:pPr marL="0" indent="0">
              <a:buNone/>
            </a:pPr>
            <a:endParaRPr lang="en-US" sz="1200" dirty="0"/>
          </a:p>
        </p:txBody>
      </p:sp>
    </p:spTree>
    <p:extLst>
      <p:ext uri="{BB962C8B-B14F-4D97-AF65-F5344CB8AC3E}">
        <p14:creationId xmlns:p14="http://schemas.microsoft.com/office/powerpoint/2010/main" val="519060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35C7-D4DE-4A95-B679-30F97C04122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Analysis- Feasibility Study</a:t>
            </a:r>
          </a:p>
        </p:txBody>
      </p:sp>
      <p:sp>
        <p:nvSpPr>
          <p:cNvPr id="3" name="Content Placeholder 2">
            <a:extLst>
              <a:ext uri="{FF2B5EF4-FFF2-40B4-BE49-F238E27FC236}">
                <a16:creationId xmlns:a16="http://schemas.microsoft.com/office/drawing/2014/main" id="{5F2AA5A4-B22B-4353-83F7-5273A4A7F8EC}"/>
              </a:ext>
            </a:extLst>
          </p:cNvPr>
          <p:cNvSpPr>
            <a:spLocks noGrp="1"/>
          </p:cNvSpPr>
          <p:nvPr>
            <p:ph idx="1"/>
          </p:nvPr>
        </p:nvSpPr>
        <p:spPr/>
        <p:txBody>
          <a:bodyPr>
            <a:normAutofit fontScale="92500" lnSpcReduction="20000"/>
          </a:bodyPr>
          <a:lstStyle/>
          <a:p>
            <a:r>
              <a:rPr lang="en-US" dirty="0">
                <a:cs typeface="Times New Roman" panose="02020603050405020304" pitchFamily="18" charset="0"/>
              </a:rPr>
              <a:t>Technical feasibility: The system uses a fully open-source, well-documented stack including Python with Flask, TensorFlow for LSTM deep learning, Pandas/NumPy for data preprocessing, and Scikit-learn for baseline models. All libraries are freely available and proven in production forecasting applications. A standard development laptop with 8GB RAM and an Intel Core i5 processor is sufficient for model development and training.</a:t>
            </a:r>
          </a:p>
          <a:p>
            <a:r>
              <a:rPr lang="en-US" dirty="0">
                <a:cs typeface="Times New Roman" panose="02020603050405020304" pitchFamily="18" charset="0"/>
              </a:rPr>
              <a:t>Economic feasibility: The core software stack is entirely open source, eliminating software licensing costs. No expensive proprietary forecasting software is required.</a:t>
            </a:r>
          </a:p>
          <a:p>
            <a:r>
              <a:rPr lang="en-US" dirty="0">
                <a:cs typeface="Times New Roman" panose="02020603050405020304" pitchFamily="18" charset="0"/>
              </a:rPr>
              <a:t>Operational feasibility: The system is delivered as a web application accessible through any modern browser, requiring no client-side installation. The interface includes AI-generated natural language explanations of forecasts, making complex deep learning outputs understandable to non-technical retail managers. Role-based access control separates administrator and user functions.</a:t>
            </a:r>
          </a:p>
          <a:p>
            <a:r>
              <a:rPr lang="en-US" dirty="0">
                <a:cs typeface="Times New Roman" panose="02020603050405020304" pitchFamily="18" charset="0"/>
              </a:rPr>
              <a:t>All three dimensions confirm the project is viable.</a:t>
            </a:r>
          </a:p>
        </p:txBody>
      </p:sp>
    </p:spTree>
    <p:extLst>
      <p:ext uri="{BB962C8B-B14F-4D97-AF65-F5344CB8AC3E}">
        <p14:creationId xmlns:p14="http://schemas.microsoft.com/office/powerpoint/2010/main" val="883702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5BC98-2228-479A-984B-C8425C495A4D}"/>
              </a:ext>
            </a:extLst>
          </p:cNvPr>
          <p:cNvSpPr>
            <a:spLocks noGrp="1"/>
          </p:cNvSpPr>
          <p:nvPr>
            <p:ph type="title"/>
          </p:nvPr>
        </p:nvSpPr>
        <p:spPr>
          <a:xfrm>
            <a:off x="677334" y="609600"/>
            <a:ext cx="8596668" cy="718268"/>
          </a:xfrm>
        </p:spPr>
        <p:txBody>
          <a:bodyPr/>
          <a:lstStyle/>
          <a:p>
            <a:r>
              <a:rPr lang="en-US" dirty="0"/>
              <a:t>System Specification</a:t>
            </a:r>
          </a:p>
        </p:txBody>
      </p:sp>
      <p:sp>
        <p:nvSpPr>
          <p:cNvPr id="3" name="Content Placeholder 2">
            <a:extLst>
              <a:ext uri="{FF2B5EF4-FFF2-40B4-BE49-F238E27FC236}">
                <a16:creationId xmlns:a16="http://schemas.microsoft.com/office/drawing/2014/main" id="{0833B930-8FA2-464C-A870-2217E399CCEC}"/>
              </a:ext>
            </a:extLst>
          </p:cNvPr>
          <p:cNvSpPr>
            <a:spLocks noGrp="1"/>
          </p:cNvSpPr>
          <p:nvPr>
            <p:ph idx="1"/>
          </p:nvPr>
        </p:nvSpPr>
        <p:spPr>
          <a:xfrm>
            <a:off x="677334" y="1327869"/>
            <a:ext cx="8596668" cy="5263762"/>
          </a:xfrm>
        </p:spPr>
        <p:txBody>
          <a:bodyPr>
            <a:normAutofit/>
          </a:bodyPr>
          <a:lstStyle/>
          <a:p>
            <a:r>
              <a:rPr lang="en-US" sz="900" dirty="0"/>
              <a:t>Functional requirements:</a:t>
            </a:r>
          </a:p>
          <a:p>
            <a:pPr>
              <a:buFont typeface="Arial" panose="020B0604020202020204" pitchFamily="34" charset="0"/>
              <a:buChar char="•"/>
            </a:pPr>
            <a:r>
              <a:rPr lang="en-US" sz="900" dirty="0"/>
              <a:t>The system shall allow registered users to upload historical retail sales data in CSV format through a drag-and-drop or file-selection interface and validate the format or allow users to add individual sales records manually through a web form without uploading a file.</a:t>
            </a:r>
          </a:p>
          <a:p>
            <a:pPr>
              <a:buFont typeface="Arial" panose="020B0604020202020204" pitchFamily="34" charset="0"/>
              <a:buChar char="•"/>
            </a:pPr>
            <a:r>
              <a:rPr lang="en-US" sz="900" dirty="0"/>
              <a:t>The system shall train an LSTM-based deep learning model for each distinct product category and geographical region combination in the database, provided the combination contains at least ten records.</a:t>
            </a:r>
          </a:p>
          <a:p>
            <a:pPr>
              <a:buFont typeface="Arial" panose="020B0604020202020204" pitchFamily="34" charset="0"/>
              <a:buChar char="•"/>
            </a:pPr>
            <a:r>
              <a:rPr lang="en-US" sz="900" dirty="0"/>
              <a:t>The system shall support model training using ARIMA and Exponential Smoothing as classical baseline methods for comparative evaluation.</a:t>
            </a:r>
          </a:p>
          <a:p>
            <a:pPr>
              <a:buFont typeface="Arial" panose="020B0604020202020204" pitchFamily="34" charset="0"/>
              <a:buChar char="•"/>
            </a:pPr>
            <a:r>
              <a:rPr lang="en-US" sz="900" dirty="0"/>
              <a:t>The system shall generate sales forecasts for a user-specified horizon of 7 to 90 days using the LSTM, ARIMA, or Exponential Smoothing model as selected by the user and display each forecast with a corresponding 95 percent confidence interval derived from Monte Carlo Dropout sampling.</a:t>
            </a:r>
          </a:p>
          <a:p>
            <a:pPr>
              <a:buFont typeface="Arial" panose="020B0604020202020204" pitchFamily="34" charset="0"/>
              <a:buChar char="•"/>
            </a:pPr>
            <a:r>
              <a:rPr lang="en-US" sz="900" dirty="0"/>
              <a:t>The system shall generate a natural language AI explanation for each forecast, describing the predicted trend, growth rate, and business implications using the Pollinations AI text API.</a:t>
            </a:r>
          </a:p>
          <a:p>
            <a:pPr>
              <a:buFont typeface="Arial" panose="020B0604020202020204" pitchFamily="34" charset="0"/>
              <a:buChar char="•"/>
            </a:pPr>
            <a:r>
              <a:rPr lang="en-US" sz="900" dirty="0"/>
              <a:t>The system shall allow users to compare LSTM, ARIMA, and Exponential Smoothing forecasts side by side on a single interactive chart, accompanied by metric-based comparison statistics.</a:t>
            </a:r>
          </a:p>
          <a:p>
            <a:r>
              <a:rPr lang="en-US" sz="900" dirty="0"/>
              <a:t>Non-functional requirements:</a:t>
            </a:r>
          </a:p>
          <a:p>
            <a:pPr>
              <a:buFont typeface="Arial" panose="020B0604020202020204" pitchFamily="34" charset="0"/>
              <a:buChar char="•"/>
            </a:pPr>
            <a:r>
              <a:rPr lang="en-US" sz="900" dirty="0"/>
              <a:t>All user passwords shall be stored as salted hashes generated by the </a:t>
            </a:r>
            <a:r>
              <a:rPr lang="en-US" sz="900" dirty="0" err="1"/>
              <a:t>Werkzeug</a:t>
            </a:r>
            <a:r>
              <a:rPr lang="en-US" sz="900" dirty="0"/>
              <a:t> security library. User sessions shall expire automatically after seven days of inactivity. </a:t>
            </a:r>
          </a:p>
          <a:p>
            <a:pPr>
              <a:buFont typeface="Arial" panose="020B0604020202020204" pitchFamily="34" charset="0"/>
              <a:buChar char="•"/>
            </a:pPr>
            <a:r>
              <a:rPr lang="en-US" sz="900" dirty="0"/>
              <a:t>The SQLite database shall operate in Write-Ahead Logging (WAL) mode to prevent data corruption under concurrent read-write access. All database queries shall use parameterized statements to prevent SQL injection. </a:t>
            </a:r>
          </a:p>
          <a:p>
            <a:pPr>
              <a:buFont typeface="Arial" panose="020B0604020202020204" pitchFamily="34" charset="0"/>
              <a:buChar char="•"/>
            </a:pPr>
            <a:r>
              <a:rPr lang="en-US" sz="900" dirty="0"/>
              <a:t>All primary system functions shall be reachable from the main navigation sidebar in a maximum of two clicks. All form interactions shall display clear success or error feedback messages within one second of submission.</a:t>
            </a:r>
          </a:p>
          <a:p>
            <a:pPr>
              <a:buFont typeface="Arial" panose="020B0604020202020204" pitchFamily="34" charset="0"/>
              <a:buChar char="•"/>
            </a:pPr>
            <a:r>
              <a:rPr lang="en-US" sz="900" dirty="0"/>
              <a:t>The system shall function correctly on any client device running a modern web browser (Chrome, Firefox, Edge, or Safari), without requiring the installation of any client-side software beyond the browser itself.</a:t>
            </a:r>
          </a:p>
        </p:txBody>
      </p:sp>
    </p:spTree>
    <p:extLst>
      <p:ext uri="{BB962C8B-B14F-4D97-AF65-F5344CB8AC3E}">
        <p14:creationId xmlns:p14="http://schemas.microsoft.com/office/powerpoint/2010/main" val="519814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71A5-BE4D-4623-A7BE-A33C719575D4}"/>
              </a:ext>
            </a:extLst>
          </p:cNvPr>
          <p:cNvSpPr>
            <a:spLocks noGrp="1"/>
          </p:cNvSpPr>
          <p:nvPr>
            <p:ph type="title"/>
          </p:nvPr>
        </p:nvSpPr>
        <p:spPr/>
        <p:txBody>
          <a:bodyPr/>
          <a:lstStyle/>
          <a:p>
            <a:r>
              <a:rPr lang="en-US" dirty="0"/>
              <a:t>Analysis – Data collection</a:t>
            </a:r>
          </a:p>
        </p:txBody>
      </p:sp>
      <p:sp>
        <p:nvSpPr>
          <p:cNvPr id="3" name="Content Placeholder 2">
            <a:extLst>
              <a:ext uri="{FF2B5EF4-FFF2-40B4-BE49-F238E27FC236}">
                <a16:creationId xmlns:a16="http://schemas.microsoft.com/office/drawing/2014/main" id="{8555F5B9-843B-4D01-854D-F50A4FC33CC7}"/>
              </a:ext>
            </a:extLst>
          </p:cNvPr>
          <p:cNvSpPr>
            <a:spLocks noGrp="1"/>
          </p:cNvSpPr>
          <p:nvPr>
            <p:ph sz="half" idx="1"/>
          </p:nvPr>
        </p:nvSpPr>
        <p:spPr>
          <a:xfrm>
            <a:off x="677334" y="2160589"/>
            <a:ext cx="8053198" cy="3880772"/>
          </a:xfrm>
        </p:spPr>
        <p:txBody>
          <a:bodyPr>
            <a:normAutofit fontScale="70000" lnSpcReduction="20000"/>
          </a:bodyPr>
          <a:lstStyle/>
          <a:p>
            <a:r>
              <a:rPr lang="en-US" dirty="0"/>
              <a:t>To gather requirements, I used two complementary approaches:</a:t>
            </a:r>
          </a:p>
          <a:p>
            <a:pPr marL="0" indent="0">
              <a:buNone/>
            </a:pPr>
            <a:endParaRPr lang="en-US" dirty="0"/>
          </a:p>
          <a:p>
            <a:r>
              <a:rPr lang="en-US" dirty="0"/>
              <a:t>First, a structured interview with a purposively selected sample of ten participants: five retail business managers, three data analysts working in retail environments, and two inventory planners. Interviews focused on current forecasting tools, stockout problems, and desired analytical outputs.</a:t>
            </a:r>
          </a:p>
          <a:p>
            <a:r>
              <a:rPr lang="en-US" dirty="0"/>
              <a:t>Second, document analysis of sample retail transaction datasets sourced from Kaggle and the UCI Machine Learning Repository, which provided direct insight into data structure, variability, and temporal patterns.</a:t>
            </a:r>
          </a:p>
          <a:p>
            <a:r>
              <a:rPr lang="en-US" dirty="0"/>
              <a:t>Key findings from the data: </a:t>
            </a:r>
          </a:p>
          <a:p>
            <a:pPr>
              <a:buFont typeface="Wingdings" panose="05000000000000000000" pitchFamily="2" charset="2"/>
              <a:buChar char="§"/>
            </a:pPr>
            <a:r>
              <a:rPr lang="en-US" dirty="0"/>
              <a:t>All five managers confirmed their current process relies on spreadsheet-based historical averages, which routinely fail to anticipate demand spikes during promotional periods.</a:t>
            </a:r>
          </a:p>
          <a:p>
            <a:pPr>
              <a:buFont typeface="Wingdings" panose="05000000000000000000" pitchFamily="2" charset="2"/>
              <a:buChar char="§"/>
            </a:pPr>
            <a:r>
              <a:rPr lang="en-US" dirty="0"/>
              <a:t>Stockouts during seasonal peaks were cited as the most costly problem, with three managers estimating revenue losses of between 10 and 20 percent of expected sales.</a:t>
            </a:r>
          </a:p>
          <a:p>
            <a:pPr>
              <a:buFont typeface="Wingdings" panose="05000000000000000000" pitchFamily="2" charset="2"/>
              <a:buChar char="§"/>
            </a:pPr>
            <a:r>
              <a:rPr lang="en-US" dirty="0"/>
              <a:t>Document analysis confirmed sales time series exhibit strong weekly seasonality, with correlation at lags of 7 and 14 days, and non-linear demand responses to promotional discounts.</a:t>
            </a:r>
          </a:p>
        </p:txBody>
      </p:sp>
    </p:spTree>
    <p:extLst>
      <p:ext uri="{BB962C8B-B14F-4D97-AF65-F5344CB8AC3E}">
        <p14:creationId xmlns:p14="http://schemas.microsoft.com/office/powerpoint/2010/main" val="814233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9751E-62EB-49DB-ACA7-45374CCB753B}"/>
              </a:ext>
            </a:extLst>
          </p:cNvPr>
          <p:cNvSpPr>
            <a:spLocks noGrp="1"/>
          </p:cNvSpPr>
          <p:nvPr>
            <p:ph type="title"/>
          </p:nvPr>
        </p:nvSpPr>
        <p:spPr>
          <a:xfrm>
            <a:off x="677334" y="609600"/>
            <a:ext cx="8596668" cy="750073"/>
          </a:xfrm>
        </p:spPr>
        <p:txBody>
          <a:bodyPr/>
          <a:lstStyle/>
          <a:p>
            <a:r>
              <a:rPr lang="en-US" dirty="0"/>
              <a:t>Use Case Diagram</a:t>
            </a:r>
          </a:p>
        </p:txBody>
      </p:sp>
      <p:sp>
        <p:nvSpPr>
          <p:cNvPr id="3" name="Content Placeholder 2">
            <a:extLst>
              <a:ext uri="{FF2B5EF4-FFF2-40B4-BE49-F238E27FC236}">
                <a16:creationId xmlns:a16="http://schemas.microsoft.com/office/drawing/2014/main" id="{76A24C62-4149-46F6-A03F-D4495FF0C7D3}"/>
              </a:ext>
            </a:extLst>
          </p:cNvPr>
          <p:cNvSpPr>
            <a:spLocks noGrp="1"/>
          </p:cNvSpPr>
          <p:nvPr>
            <p:ph sz="half" idx="1"/>
          </p:nvPr>
        </p:nvSpPr>
        <p:spPr/>
        <p:txBody>
          <a:bodyPr>
            <a:normAutofit fontScale="85000" lnSpcReduction="20000"/>
          </a:bodyPr>
          <a:lstStyle/>
          <a:p>
            <a:r>
              <a:rPr lang="en-US" dirty="0"/>
              <a:t>The use case diagram captures the interactions between the system and its two primary actors: Administrator and User (Retail Manager) .</a:t>
            </a:r>
          </a:p>
          <a:p>
            <a:pPr marL="0" indent="0">
              <a:buNone/>
            </a:pPr>
            <a:endParaRPr lang="en-US" dirty="0"/>
          </a:p>
          <a:p>
            <a:r>
              <a:rPr lang="en-US" dirty="0"/>
              <a:t>Administrator Actor encompasses all capabilities available to the general User, plus exclusive access to model training and user management functions</a:t>
            </a:r>
          </a:p>
          <a:p>
            <a:endParaRPr lang="en-US" dirty="0"/>
          </a:p>
          <a:p>
            <a:r>
              <a:rPr lang="en-US" dirty="0"/>
              <a:t>System Boundary: All use cases are contained within the "Sales Forecasting System" boundary. External entity is the Pollinations AI Service that generate natural language explanations of forecasts and trends.</a:t>
            </a:r>
          </a:p>
        </p:txBody>
      </p:sp>
      <p:pic>
        <p:nvPicPr>
          <p:cNvPr id="7" name="Graphic 12">
            <a:extLst>
              <a:ext uri="{FF2B5EF4-FFF2-40B4-BE49-F238E27FC236}">
                <a16:creationId xmlns:a16="http://schemas.microsoft.com/office/drawing/2014/main" id="{4BA660A1-FE11-4D85-A55F-ABD311456E5F}"/>
              </a:ext>
            </a:extLst>
          </p:cNvPr>
          <p:cNvPicPr>
            <a:picLocks noGrp="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9525" y="2530975"/>
            <a:ext cx="4184650" cy="3140662"/>
          </a:xfrm>
          <a:prstGeom prst="rect">
            <a:avLst/>
          </a:prstGeom>
        </p:spPr>
      </p:pic>
    </p:spTree>
    <p:extLst>
      <p:ext uri="{BB962C8B-B14F-4D97-AF65-F5344CB8AC3E}">
        <p14:creationId xmlns:p14="http://schemas.microsoft.com/office/powerpoint/2010/main" val="2481065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9832E-6BF2-4076-A754-7E3AB2F8D09A}"/>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D9309A31-2DAC-433B-9CF4-1D28C33730C5}"/>
              </a:ext>
            </a:extLst>
          </p:cNvPr>
          <p:cNvSpPr>
            <a:spLocks noGrp="1"/>
          </p:cNvSpPr>
          <p:nvPr>
            <p:ph sz="half" idx="1"/>
          </p:nvPr>
        </p:nvSpPr>
        <p:spPr/>
        <p:txBody>
          <a:bodyPr>
            <a:normAutofit fontScale="62500" lnSpcReduction="20000"/>
          </a:bodyPr>
          <a:lstStyle/>
          <a:p>
            <a:pPr marL="0" indent="0">
              <a:buNone/>
            </a:pPr>
            <a:r>
              <a:rPr lang="en-US" dirty="0"/>
              <a:t>The Level 1 DFD expose the major internal processes and data stores of the system. Six principal processes are identified. </a:t>
            </a:r>
          </a:p>
          <a:p>
            <a:pPr marL="0" indent="0">
              <a:buNone/>
            </a:pPr>
            <a:r>
              <a:rPr lang="en-US" dirty="0"/>
              <a:t>•Process 1 (User Authentication) receives login credentials from the Retail User and produces an authenticated session token. </a:t>
            </a:r>
          </a:p>
          <a:p>
            <a:pPr marL="0" indent="0">
              <a:buNone/>
            </a:pPr>
            <a:r>
              <a:rPr lang="en-US" dirty="0"/>
              <a:t>•Process 2 (Data Ingestion and Preprocessing) accepts raw CSV uploads or manual form entries, validates them, and writes clean records to the Sales Data Store. </a:t>
            </a:r>
          </a:p>
          <a:p>
            <a:pPr marL="0" indent="0">
              <a:buNone/>
            </a:pPr>
            <a:r>
              <a:rPr lang="en-US" dirty="0"/>
              <a:t>•Process 3 (Model Training) reads historical records from the Sales Data Store, applies feature engineering, trains the LSTM model, and writes performance metrics to the Model Metrics Store. </a:t>
            </a:r>
          </a:p>
          <a:p>
            <a:pPr marL="0" indent="0">
              <a:buNone/>
            </a:pPr>
            <a:r>
              <a:rPr lang="en-US" dirty="0"/>
              <a:t>•Process 4 (Forecast Generation) reads from the Sales Data Store and the trained model files, generates predictions, and writes results to the Predictions Store. </a:t>
            </a:r>
          </a:p>
          <a:p>
            <a:pPr marL="0" indent="0">
              <a:buNone/>
            </a:pPr>
            <a:r>
              <a:rPr lang="en-US" dirty="0"/>
              <a:t>•Process 5 (Trend and Anomaly Analysis) reads from the Sales Data Store, detects anomalies, computes trend statistics, and writes findings to the Trends and Anomalies Stores. </a:t>
            </a:r>
          </a:p>
          <a:p>
            <a:pPr marL="0" indent="0">
              <a:buNone/>
            </a:pPr>
            <a:r>
              <a:rPr lang="en-US" dirty="0"/>
              <a:t>•Process 6 (Report Generation) reads from the Sales Data Store, Predictions Store, and Trends Store, produces formatted reports, and dispatches them to the user directly or via the Email Service.</a:t>
            </a:r>
          </a:p>
        </p:txBody>
      </p:sp>
      <p:pic>
        <p:nvPicPr>
          <p:cNvPr id="5" name="Graphic 2">
            <a:extLst>
              <a:ext uri="{FF2B5EF4-FFF2-40B4-BE49-F238E27FC236}">
                <a16:creationId xmlns:a16="http://schemas.microsoft.com/office/drawing/2014/main" id="{D26AB87E-E465-4F29-BC4A-29D8F812D697}"/>
              </a:ext>
            </a:extLst>
          </p:cNvPr>
          <p:cNvPicPr>
            <a:picLocks noGrp="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61369" y="1837267"/>
            <a:ext cx="4640440" cy="4204093"/>
          </a:xfrm>
          <a:prstGeom prst="rect">
            <a:avLst/>
          </a:prstGeom>
        </p:spPr>
      </p:pic>
    </p:spTree>
    <p:extLst>
      <p:ext uri="{BB962C8B-B14F-4D97-AF65-F5344CB8AC3E}">
        <p14:creationId xmlns:p14="http://schemas.microsoft.com/office/powerpoint/2010/main" val="3411457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0E74B-84A9-4663-A1B7-2827B94542D4}"/>
              </a:ext>
            </a:extLst>
          </p:cNvPr>
          <p:cNvSpPr>
            <a:spLocks noGrp="1"/>
          </p:cNvSpPr>
          <p:nvPr>
            <p:ph type="title"/>
          </p:nvPr>
        </p:nvSpPr>
        <p:spPr>
          <a:xfrm>
            <a:off x="677333" y="902255"/>
            <a:ext cx="4251127" cy="582589"/>
          </a:xfrm>
        </p:spPr>
        <p:txBody>
          <a:bodyPr/>
          <a:lstStyle/>
          <a:p>
            <a:r>
              <a:rPr lang="en-US" dirty="0"/>
              <a:t>Design – Logical and flow charts</a:t>
            </a:r>
          </a:p>
        </p:txBody>
      </p:sp>
      <p:sp>
        <p:nvSpPr>
          <p:cNvPr id="4" name="Text Placeholder 3">
            <a:extLst>
              <a:ext uri="{FF2B5EF4-FFF2-40B4-BE49-F238E27FC236}">
                <a16:creationId xmlns:a16="http://schemas.microsoft.com/office/drawing/2014/main" id="{079D76AD-98D5-4A6C-9FA5-C55FD70105DF}"/>
              </a:ext>
            </a:extLst>
          </p:cNvPr>
          <p:cNvSpPr>
            <a:spLocks noGrp="1"/>
          </p:cNvSpPr>
          <p:nvPr>
            <p:ph type="body" sz="half" idx="2"/>
          </p:nvPr>
        </p:nvSpPr>
        <p:spPr>
          <a:xfrm>
            <a:off x="596349" y="1757239"/>
            <a:ext cx="4826440" cy="4198506"/>
          </a:xfrm>
        </p:spPr>
        <p:txBody>
          <a:bodyPr>
            <a:normAutofit fontScale="70000" lnSpcReduction="20000"/>
          </a:bodyPr>
          <a:lstStyle/>
          <a:p>
            <a:r>
              <a:rPr lang="en-US" dirty="0"/>
              <a:t>The forecasting pipeline is the core process of the system and follows a clearly defined sequential control flow:</a:t>
            </a:r>
          </a:p>
          <a:p>
            <a:r>
              <a:rPr lang="en-US" dirty="0"/>
              <a:t>The process begins when a user selects a product category, region, and forecast horizon on the Generate Forecast screen.</a:t>
            </a:r>
          </a:p>
          <a:p>
            <a:r>
              <a:rPr lang="en-US" dirty="0"/>
              <a:t>Step 1 – Data Availability Check: The system queries the database to count available records for the selected combination. If fewer than 90 records exist but at least 10 are available, the user is prompted with an option to proceed with reduced accuracy.</a:t>
            </a:r>
          </a:p>
          <a:p>
            <a:r>
              <a:rPr lang="en-US" dirty="0"/>
              <a:t>Step 2 – Model Selection: The user chooses between LSTM (primary deep learning model), ARIMA, or Exponential Smoothing (baseline models for comparison).</a:t>
            </a:r>
          </a:p>
          <a:p>
            <a:r>
              <a:rPr lang="en-US" dirty="0"/>
              <a:t>Step 3 – Forecast Generation: The selected model executes. For LSTM, this involves loading the pre-trained model, preparing sequential input data using a lookback window adapted to available data size, and generating predictions with Monte Carlo Dropout for confidence intervals.</a:t>
            </a:r>
          </a:p>
          <a:p>
            <a:r>
              <a:rPr lang="en-US" dirty="0"/>
              <a:t>Step 4 – AI Explanation: The forecast results are sent to the Pollinations AI API, which returns a natural language narrative explaining the predicted trend, growth rate, and business implications.</a:t>
            </a:r>
          </a:p>
          <a:p>
            <a:r>
              <a:rPr lang="en-US" dirty="0"/>
              <a:t>Step 5 – Visualization: Results are displayed as an interactive </a:t>
            </a:r>
            <a:r>
              <a:rPr lang="en-US" dirty="0" err="1"/>
              <a:t>Plotly</a:t>
            </a:r>
            <a:r>
              <a:rPr lang="en-US" dirty="0"/>
              <a:t> line chart with shaded confidence bands, alongside summary statistics, the AI explanation panel, and a comparison chart showing all three model forecasts overlaid.</a:t>
            </a:r>
          </a:p>
          <a:p>
            <a:r>
              <a:rPr lang="en-US" dirty="0"/>
              <a:t>This design decision to provide both numerical forecasts and natural language explanations addresses the stakeholder requirement for interpretable outputs that non-technical retail managers can act upon.</a:t>
            </a:r>
          </a:p>
        </p:txBody>
      </p:sp>
      <p:pic>
        <p:nvPicPr>
          <p:cNvPr id="7" name="Graphic 21">
            <a:extLst>
              <a:ext uri="{FF2B5EF4-FFF2-40B4-BE49-F238E27FC236}">
                <a16:creationId xmlns:a16="http://schemas.microsoft.com/office/drawing/2014/main" id="{06D5E809-B39F-472F-BE3B-885A011DF0F1}"/>
              </a:ext>
            </a:extLst>
          </p:cNvPr>
          <p:cNvPicPr>
            <a:picLocks noGrp="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22789" y="530253"/>
            <a:ext cx="3570136" cy="5527675"/>
          </a:xfrm>
          <a:prstGeom prst="rect">
            <a:avLst/>
          </a:prstGeom>
        </p:spPr>
      </p:pic>
    </p:spTree>
    <p:extLst>
      <p:ext uri="{BB962C8B-B14F-4D97-AF65-F5344CB8AC3E}">
        <p14:creationId xmlns:p14="http://schemas.microsoft.com/office/powerpoint/2010/main" val="2229175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3FF7-B84F-4283-BADC-FC99AAABA41C}"/>
              </a:ext>
            </a:extLst>
          </p:cNvPr>
          <p:cNvSpPr>
            <a:spLocks noGrp="1"/>
          </p:cNvSpPr>
          <p:nvPr>
            <p:ph type="title"/>
          </p:nvPr>
        </p:nvSpPr>
        <p:spPr>
          <a:xfrm>
            <a:off x="606154" y="1566407"/>
            <a:ext cx="3854528" cy="569308"/>
          </a:xfrm>
        </p:spPr>
        <p:txBody>
          <a:bodyPr/>
          <a:lstStyle/>
          <a:p>
            <a:r>
              <a:rPr lang="en-US" dirty="0"/>
              <a:t>Design – Database Schema</a:t>
            </a:r>
          </a:p>
        </p:txBody>
      </p:sp>
      <p:sp>
        <p:nvSpPr>
          <p:cNvPr id="4" name="Text Placeholder 3">
            <a:extLst>
              <a:ext uri="{FF2B5EF4-FFF2-40B4-BE49-F238E27FC236}">
                <a16:creationId xmlns:a16="http://schemas.microsoft.com/office/drawing/2014/main" id="{C43FF1BB-42FC-4C93-8FFA-10E2267BAD44}"/>
              </a:ext>
            </a:extLst>
          </p:cNvPr>
          <p:cNvSpPr>
            <a:spLocks noGrp="1"/>
          </p:cNvSpPr>
          <p:nvPr>
            <p:ph type="body" sz="half" idx="2"/>
          </p:nvPr>
        </p:nvSpPr>
        <p:spPr>
          <a:xfrm>
            <a:off x="677334" y="2369489"/>
            <a:ext cx="3783348" cy="2992029"/>
          </a:xfrm>
        </p:spPr>
        <p:txBody>
          <a:bodyPr>
            <a:normAutofit/>
          </a:bodyPr>
          <a:lstStyle/>
          <a:p>
            <a:r>
              <a:rPr lang="en-US" dirty="0"/>
              <a:t>This translates the logical model into a physical SQLite schema. The complete schema comprises ten tables with foreign key constraints and indexes for query performance.</a:t>
            </a:r>
          </a:p>
        </p:txBody>
      </p:sp>
      <p:pic>
        <p:nvPicPr>
          <p:cNvPr id="7" name="Content Placeholder 6">
            <a:extLst>
              <a:ext uri="{FF2B5EF4-FFF2-40B4-BE49-F238E27FC236}">
                <a16:creationId xmlns:a16="http://schemas.microsoft.com/office/drawing/2014/main" id="{56633E81-6524-453C-B41E-02668477D2F0}"/>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4460682" y="1431235"/>
            <a:ext cx="4813493" cy="3633746"/>
          </a:xfrm>
          <a:prstGeom prst="rect">
            <a:avLst/>
          </a:prstGeom>
        </p:spPr>
      </p:pic>
    </p:spTree>
    <p:extLst>
      <p:ext uri="{BB962C8B-B14F-4D97-AF65-F5344CB8AC3E}">
        <p14:creationId xmlns:p14="http://schemas.microsoft.com/office/powerpoint/2010/main" val="776758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3C428-6033-44D6-A3CC-E11574D5E51D}"/>
              </a:ext>
            </a:extLst>
          </p:cNvPr>
          <p:cNvSpPr>
            <a:spLocks noGrp="1"/>
          </p:cNvSpPr>
          <p:nvPr>
            <p:ph type="title"/>
          </p:nvPr>
        </p:nvSpPr>
        <p:spPr/>
        <p:txBody>
          <a:bodyPr/>
          <a:lstStyle/>
          <a:p>
            <a:r>
              <a:rPr lang="en-US" dirty="0"/>
              <a:t>Design – UI and Usability Principles</a:t>
            </a:r>
          </a:p>
        </p:txBody>
      </p:sp>
      <p:sp>
        <p:nvSpPr>
          <p:cNvPr id="3" name="Content Placeholder 2">
            <a:extLst>
              <a:ext uri="{FF2B5EF4-FFF2-40B4-BE49-F238E27FC236}">
                <a16:creationId xmlns:a16="http://schemas.microsoft.com/office/drawing/2014/main" id="{E53C3250-96D0-4D1A-9BBF-76E6BBA2EB82}"/>
              </a:ext>
            </a:extLst>
          </p:cNvPr>
          <p:cNvSpPr>
            <a:spLocks noGrp="1"/>
          </p:cNvSpPr>
          <p:nvPr>
            <p:ph idx="1"/>
          </p:nvPr>
        </p:nvSpPr>
        <p:spPr/>
        <p:txBody>
          <a:bodyPr>
            <a:normAutofit fontScale="62500" lnSpcReduction="20000"/>
          </a:bodyPr>
          <a:lstStyle/>
          <a:p>
            <a:r>
              <a:rPr lang="en-US" dirty="0"/>
              <a:t>The user interface is designed using HTML, CSS, and JavaScript with a consistent dark-themed design language, featuring a fixed left-side navigation sidebar, card-based content areas, and Plotly.js interactive charts. The interface is fully responsive and accessible on any modern browser.</a:t>
            </a:r>
          </a:p>
          <a:p>
            <a:r>
              <a:rPr lang="en-US" dirty="0"/>
              <a:t>Key wireframe screens:</a:t>
            </a:r>
          </a:p>
          <a:p>
            <a:r>
              <a:rPr lang="en-US" dirty="0"/>
              <a:t>The Dashboard shows key performance metrics (total sales, monthly growth rate, total units, AI predictions count), a 30-day sales trend chart, a category distribution pie chart, and recent predictions immediately upon login.</a:t>
            </a:r>
          </a:p>
          <a:p>
            <a:r>
              <a:rPr lang="en-US" dirty="0"/>
              <a:t>The Generate Forecast screen (the primary research implementation) presents a three-card model selector (LSTM, ARIMA, Exponential Smoothing), dropdown menus for product category and region, a range slider for forecast period (7–90 days), and a real-time data availability indicator that queries the database when category and region are selected. After submission, results display as a summary statistics bar, an interactive line chart with shaded confidence bands, an AI insights panel with natural language narrative, and a model comparison chart.</a:t>
            </a:r>
          </a:p>
          <a:p>
            <a:r>
              <a:rPr lang="en-US" dirty="0"/>
              <a:t>Usability principles applied:</a:t>
            </a:r>
          </a:p>
          <a:p>
            <a:pPr>
              <a:buFont typeface="Wingdings" panose="05000000000000000000" pitchFamily="2" charset="2"/>
              <a:buChar char="§"/>
            </a:pPr>
            <a:r>
              <a:rPr lang="en-US" dirty="0"/>
              <a:t>Minimizing user effort: Form fields include contextual validation feedback. The data availability indicator prevents failed forecast attempts.</a:t>
            </a:r>
          </a:p>
          <a:p>
            <a:pPr>
              <a:buFont typeface="Wingdings" panose="05000000000000000000" pitchFamily="2" charset="2"/>
              <a:buChar char="§"/>
            </a:pPr>
            <a:r>
              <a:rPr lang="en-US" dirty="0"/>
              <a:t>Consistency: Same layout and interaction patterns across all eleven screens.</a:t>
            </a:r>
          </a:p>
          <a:p>
            <a:pPr>
              <a:buFont typeface="Wingdings" panose="05000000000000000000" pitchFamily="2" charset="2"/>
              <a:buChar char="§"/>
            </a:pPr>
            <a:r>
              <a:rPr lang="en-US" dirty="0"/>
              <a:t>Feedback: Loading states and real-time validation messages guide user actions.</a:t>
            </a:r>
          </a:p>
          <a:p>
            <a:pPr>
              <a:buFont typeface="Wingdings" panose="05000000000000000000" pitchFamily="2" charset="2"/>
              <a:buChar char="§"/>
            </a:pPr>
            <a:r>
              <a:rPr lang="en-US" dirty="0"/>
              <a:t>Role-based access: Administrator links (Model Training, User Management) appear only for admin users, reducing cognitive load for general users.</a:t>
            </a:r>
          </a:p>
        </p:txBody>
      </p:sp>
    </p:spTree>
    <p:extLst>
      <p:ext uri="{BB962C8B-B14F-4D97-AF65-F5344CB8AC3E}">
        <p14:creationId xmlns:p14="http://schemas.microsoft.com/office/powerpoint/2010/main" val="1171483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BDDE1-6E24-44E7-8E5A-75193C4B4D4C}"/>
              </a:ext>
            </a:extLst>
          </p:cNvPr>
          <p:cNvSpPr>
            <a:spLocks noGrp="1"/>
          </p:cNvSpPr>
          <p:nvPr>
            <p:ph type="title"/>
          </p:nvPr>
        </p:nvSpPr>
        <p:spPr/>
        <p:txBody>
          <a:bodyPr/>
          <a:lstStyle/>
          <a:p>
            <a:r>
              <a:rPr lang="en-US" dirty="0"/>
              <a:t>Wireframe – Forecast Page</a:t>
            </a:r>
          </a:p>
        </p:txBody>
      </p:sp>
      <p:sp>
        <p:nvSpPr>
          <p:cNvPr id="3" name="Content Placeholder 2">
            <a:extLst>
              <a:ext uri="{FF2B5EF4-FFF2-40B4-BE49-F238E27FC236}">
                <a16:creationId xmlns:a16="http://schemas.microsoft.com/office/drawing/2014/main" id="{AF4421CD-1F14-46AA-9DA6-798B21E67EB0}"/>
              </a:ext>
            </a:extLst>
          </p:cNvPr>
          <p:cNvSpPr>
            <a:spLocks noGrp="1"/>
          </p:cNvSpPr>
          <p:nvPr>
            <p:ph sz="half" idx="1"/>
          </p:nvPr>
        </p:nvSpPr>
        <p:spPr/>
        <p:txBody>
          <a:bodyPr/>
          <a:lstStyle/>
          <a:p>
            <a:r>
              <a:rPr lang="en-US" sz="1800" dirty="0">
                <a:effectLst/>
                <a:latin typeface="Times New Roman" panose="02020603050405020304" pitchFamily="18" charset="0"/>
                <a:ea typeface="Times New Roman" panose="02020603050405020304" pitchFamily="18" charset="0"/>
              </a:rPr>
              <a:t>wireframe for the Generate Forecast screen, which implements the primary research objective of the project.</a:t>
            </a:r>
            <a:endParaRPr lang="en-US" dirty="0"/>
          </a:p>
        </p:txBody>
      </p:sp>
      <p:pic>
        <p:nvPicPr>
          <p:cNvPr id="7" name="Graphic 9">
            <a:extLst>
              <a:ext uri="{FF2B5EF4-FFF2-40B4-BE49-F238E27FC236}">
                <a16:creationId xmlns:a16="http://schemas.microsoft.com/office/drawing/2014/main" id="{84C7F6BF-DAE2-406B-ADF3-29C6D29FCDB7}"/>
              </a:ext>
            </a:extLst>
          </p:cNvPr>
          <p:cNvPicPr>
            <a:picLocks noGrp="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61369" y="2160589"/>
            <a:ext cx="4412806" cy="3786987"/>
          </a:xfrm>
          <a:prstGeom prst="rect">
            <a:avLst/>
          </a:prstGeom>
        </p:spPr>
      </p:pic>
    </p:spTree>
    <p:extLst>
      <p:ext uri="{BB962C8B-B14F-4D97-AF65-F5344CB8AC3E}">
        <p14:creationId xmlns:p14="http://schemas.microsoft.com/office/powerpoint/2010/main" val="1776646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DB154-BB03-4EA4-B27E-81EDA6CC4B1A}"/>
              </a:ext>
            </a:extLst>
          </p:cNvPr>
          <p:cNvSpPr>
            <a:spLocks noGrp="1"/>
          </p:cNvSpPr>
          <p:nvPr>
            <p:ph type="title"/>
          </p:nvPr>
        </p:nvSpPr>
        <p:spPr>
          <a:xfrm>
            <a:off x="677333" y="1186380"/>
            <a:ext cx="3854528" cy="639233"/>
          </a:xfrm>
        </p:spPr>
        <p:txBody>
          <a:bodyPr/>
          <a:lstStyle/>
          <a:p>
            <a:r>
              <a:rPr lang="en-US" dirty="0"/>
              <a:t>Design – System Architecture</a:t>
            </a:r>
          </a:p>
        </p:txBody>
      </p:sp>
      <p:sp>
        <p:nvSpPr>
          <p:cNvPr id="4" name="Text Placeholder 3">
            <a:extLst>
              <a:ext uri="{FF2B5EF4-FFF2-40B4-BE49-F238E27FC236}">
                <a16:creationId xmlns:a16="http://schemas.microsoft.com/office/drawing/2014/main" id="{F3135742-7A16-4374-A9CB-B7F2F4B93F83}"/>
              </a:ext>
            </a:extLst>
          </p:cNvPr>
          <p:cNvSpPr>
            <a:spLocks noGrp="1"/>
          </p:cNvSpPr>
          <p:nvPr>
            <p:ph type="body" sz="half" idx="2"/>
          </p:nvPr>
        </p:nvSpPr>
        <p:spPr>
          <a:xfrm>
            <a:off x="677333" y="2218414"/>
            <a:ext cx="4300183" cy="3570135"/>
          </a:xfrm>
        </p:spPr>
        <p:txBody>
          <a:bodyPr>
            <a:normAutofit fontScale="85000" lnSpcReduction="20000"/>
          </a:bodyPr>
          <a:lstStyle/>
          <a:p>
            <a:r>
              <a:rPr lang="en-US" dirty="0"/>
              <a:t>The system follows a three-tier layered architecture comprising a Presentation Layer, an Application Logic Layer, and a Data Layer.</a:t>
            </a:r>
          </a:p>
          <a:p>
            <a:r>
              <a:rPr lang="en-US" dirty="0"/>
              <a:t>Presentation Layer: Eleven HTML templates rendered server-side by Flask, including Dashboard, Data Management, Generate Forecast, Trends Analysis, Reports, Anomaly Detection, What-If Analysis, Model Training, User Management, Login, and Register screens. All templates feature a consistent left-side navigation sidebar and Plotly.js interactive charts.</a:t>
            </a:r>
          </a:p>
          <a:p>
            <a:r>
              <a:rPr lang="en-US" dirty="0"/>
              <a:t>Application Logic Layer: Modular Python classes including </a:t>
            </a:r>
            <a:r>
              <a:rPr lang="en-US" dirty="0" err="1"/>
              <a:t>LSTMForecaster</a:t>
            </a:r>
            <a:r>
              <a:rPr lang="en-US" dirty="0"/>
              <a:t>, </a:t>
            </a:r>
            <a:r>
              <a:rPr lang="en-US" dirty="0" err="1"/>
              <a:t>DataPreprocessor</a:t>
            </a:r>
            <a:r>
              <a:rPr lang="en-US" dirty="0"/>
              <a:t>, </a:t>
            </a:r>
            <a:r>
              <a:rPr lang="en-US" dirty="0" err="1"/>
              <a:t>BaselineModels</a:t>
            </a:r>
            <a:r>
              <a:rPr lang="en-US" dirty="0"/>
              <a:t>, </a:t>
            </a:r>
            <a:r>
              <a:rPr lang="en-US" dirty="0" err="1"/>
              <a:t>AnomalyDetector</a:t>
            </a:r>
            <a:r>
              <a:rPr lang="en-US" dirty="0"/>
              <a:t>, </a:t>
            </a:r>
            <a:r>
              <a:rPr lang="en-US" dirty="0" err="1"/>
              <a:t>LLMExplainer</a:t>
            </a:r>
            <a:r>
              <a:rPr lang="en-US" dirty="0"/>
              <a:t>, </a:t>
            </a:r>
            <a:r>
              <a:rPr lang="en-US" dirty="0" err="1"/>
              <a:t>ReportGenerator</a:t>
            </a:r>
            <a:r>
              <a:rPr lang="en-US" dirty="0"/>
              <a:t>, </a:t>
            </a:r>
            <a:r>
              <a:rPr lang="en-US" dirty="0" err="1"/>
              <a:t>EmailService</a:t>
            </a:r>
            <a:r>
              <a:rPr lang="en-US" dirty="0"/>
              <a:t>, and background scheduler daemons.</a:t>
            </a:r>
          </a:p>
          <a:p>
            <a:r>
              <a:rPr lang="en-US" dirty="0"/>
              <a:t>Data Layer: SQLite relational database operating in WAL journaling mode.</a:t>
            </a:r>
          </a:p>
          <a:p>
            <a:r>
              <a:rPr lang="en-US" dirty="0"/>
              <a:t>This architecture was selected for its separation of concerns, independent testability of each component, and seamless Python integration for TensorFlow deep learning models.</a:t>
            </a:r>
          </a:p>
        </p:txBody>
      </p:sp>
      <p:pic>
        <p:nvPicPr>
          <p:cNvPr id="7" name="Graphic 20">
            <a:extLst>
              <a:ext uri="{FF2B5EF4-FFF2-40B4-BE49-F238E27FC236}">
                <a16:creationId xmlns:a16="http://schemas.microsoft.com/office/drawing/2014/main" id="{433B84E2-3684-49E8-BC92-5F3EC4820383}"/>
              </a:ext>
            </a:extLst>
          </p:cNvPr>
          <p:cNvPicPr>
            <a:picLocks noGrp="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18722" y="1717483"/>
            <a:ext cx="4804506" cy="3644036"/>
          </a:xfrm>
          <a:prstGeom prst="rect">
            <a:avLst/>
          </a:prstGeom>
        </p:spPr>
      </p:pic>
    </p:spTree>
    <p:extLst>
      <p:ext uri="{BB962C8B-B14F-4D97-AF65-F5344CB8AC3E}">
        <p14:creationId xmlns:p14="http://schemas.microsoft.com/office/powerpoint/2010/main" val="825618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2304</TotalTime>
  <Words>1849</Words>
  <Application>Microsoft Office PowerPoint</Application>
  <PresentationFormat>Widescreen</PresentationFormat>
  <Paragraphs>83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Times New Roman</vt:lpstr>
      <vt:lpstr>Trebuchet MS</vt:lpstr>
      <vt:lpstr>Wingdings</vt:lpstr>
      <vt:lpstr>Wingdings 3</vt:lpstr>
      <vt:lpstr>Facet</vt:lpstr>
      <vt:lpstr>Deep Learning–Based Sales Forecasting and Trend Prediction System for Retail Business Optimization </vt:lpstr>
      <vt:lpstr>Objectives</vt:lpstr>
      <vt:lpstr>Analysis- Feasibility Study</vt:lpstr>
      <vt:lpstr>System Specification</vt:lpstr>
      <vt:lpstr>Analysis – Data collection</vt:lpstr>
      <vt:lpstr>Use Case Diagram</vt:lpstr>
      <vt:lpstr>Data Flow Diagram</vt:lpstr>
      <vt:lpstr>Design – Logical and flow charts</vt:lpstr>
      <vt:lpstr>Design – Database Schema</vt:lpstr>
      <vt:lpstr>Design – UI and Usability Principles</vt:lpstr>
      <vt:lpstr>Wireframe – Forecast Page</vt:lpstr>
      <vt:lpstr>Design – System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Vision–Based Campus Lost and Found System</dc:title>
  <dc:creator>Lucky Awino</dc:creator>
  <cp:lastModifiedBy>Lucky Awino</cp:lastModifiedBy>
  <cp:revision>44</cp:revision>
  <dcterms:created xsi:type="dcterms:W3CDTF">2026-05-04T11:55:57Z</dcterms:created>
  <dcterms:modified xsi:type="dcterms:W3CDTF">2026-05-07T10:34:21Z</dcterms:modified>
</cp:coreProperties>
</file>